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Christian David et Kouadio Yao Boffouo. Dans cette vidéo, nous présentons notre TP 3 du cours d'Introduction au Cloud : nos premiers conteneurs avec Docker, de l'installation jusqu'à la publication d'une image sur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D'abord l'installation de Docker. Ensuite nous lançons et inspectons des conteneurs. Puis nous comparons un conteneur et une machine virtuelle. Après, nous conteneurisons notre API. Et enfin, nous publions l'image dans un registre.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Quelques termes. Une image est un modèle en lecture seule. Un conteneur est un processus isolé qui utilise le noyau de la machine. Le Dockerfile est la recette pour construire une image, et le registre est le serveur où l'on stocke les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autres notions. Le volume garde les données quand le conteneur disparaît. L'option -p publie un port. Le tag identifie la version d'une image. Et le cache de build évite de reconstruire ce qui n'a pas changé.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Notre navigateur Windows appelle le port 8080 ou 5000. VirtualBox redirige vers la VM, puis Docker redirige vers le conteneur : Nginx sur le port 80, notre API sur le port 5000. Les deux conteneurs partagent le noyau de la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démarrons la VM en mode headless avec VBoxManage. Une première faute de frappe, headles, a été refusée, puis corrigée. Nous ouvrons les ports 8080 et 5000, et showvminfo montre bien les trois redirections. Nous nous connectons ensuite en SSH.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erreur : sudo update n'existe pas, c'est sudo apt update. Ensuite nous installons docker.io, docker-buildx et docker-compose-v2.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ajoutons notre utilisateur au groupe docker, puis nous nous déconnectons pour que le groupe soit pris en compte. Attention : être dans ce groupe équivaut presque à être administrateur, car le démon Docker tourne en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version affiche la version 29.1.3. Docker info indique le pilote overlayfs, cgroup v2, et le noyau 7.0.0-38-generic : c'est celui de la VM, Docker n'a pas de noyau propre.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conteneur : hello-world. L'image n'existe pas en local, Docker la télécharge, crée le conteneur, et renvoie le message. Ce sont les quatre étapes décrites par le message lui-même.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images montre une image de seulement 25,9 kilo-octets. Docker ps -a montre le conteneur terminé avec le code zéro, et un nom aléatoire, awesome_euler.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seule commande lance un serveur Nginx. Le curl renvoie Welcome to nginx, preuve que le serveur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Depuis le navigateur de Windows, la page s'affiche sur 127.0.0.1 port 8080. La requête passe par la redirection VirtualBox, puis par la publication de port Docker, jusqu'à Nginx.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conteneur, c'est Debian 13. Dans la VM, c'est Ubuntu 26.04. Mais uname moins r donne le même noyau des deux côtés : un conteneur n'embarque pas de noyau.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top montre le processus maître de Nginx, PID 2944, et ce même PID apparaît dans ps aux sur la VM. Docker stats indique seulement 3,4 mébioctets de mémoire.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modifions la page dans le conteneur, elle s'affiche. Mais après docker rm et un nouveau docker run, c'est de nouveau la page par défaut. La modification était dans la couche propre au conteneur.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l'option -v, un dossier de la VM est monté dans le conteneur. La page vient maintenant de ce dossier.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supprimons le conteneur et le recréons avec le même volume : la page est toujours là. C'est le rôle du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 mesures : le conteneur Nginx est environ 30 fois plus petit que la VM, 140 fois plus léger en mémoire, et démarre environ 20 fois plus vite. Alpine ne fait que 13 mégaoctets, soit 550 fois moins que la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téléchargeons Alpine et mesurons docker run : 1,6 puis 2 secondes. La VM met 43,7 secondes à démarrer d'après systemd-analyze. Notre première mesure est plus rapide que la deuxième, à l'inverse de la théorie : une mesure isolée est peu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commande free moins h indique 493 mébioctets utilisés pour toute la VM, contre 3,4 pour le conteneur Nginx.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Dockerfile de notre API Flask. On part de python 3.12 slim, on copie d'abord requirements.txt et on installe Flask, puis seulement après on copie le code. Cet ordre permet de garder l'installation en cache quand on modifie uniquement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API a deux routes : la racine, qui renvoie le nom du binôme et le nom du conteneur, et la route sante.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build télécharge python 3.12 slim et installe Flask. Au total, la construction prend 41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L'image fait 198 mégaoctets. Docker history montre 16 couches : 6 viennent de notre Dockerfile, les autres de l'image de base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lançons l'API avec la variable d'environnement BINOME. Les deux premiers curl n'ont rien renvoyé car Flask démarrait encore. Ensuite, les réponses arrivent, avec le nom de notre binôme.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même réponse s'affiche dans le navigateur de Windows, avec l'identifiant du conteneur.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lançons trois conteneurs à partir de la même image, sur trois ports. Chacun a un identifiant différent. C'est l'élasticité du cloud : autant d'instances qu'on veut, en quelques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ajoutons une route version dans app.py puis nous reconstruisons en api 1.1. Cette fois, la construction ne prend que 4,8 secondes au lieu de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étapes WORKDIR, COPY requirements et pip install sont marquées CACHED. Seule la copie du code est refaite. En haut, un premier essai avait échoué à cause d'un problème réseau passager avec Docker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relançons l'API en version 1.1 et la route version répond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nous connectons à GitHub Container Registry avec un jeton d'accès personnel. Le premier essai a échoué car le mot de passe n'était pas saisi. Le second affiche Login Succeeded. Nous étiquetons l'image, mais notre premier push a une faute de tag, 1 point au lieu 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le bon tag, toutes les couches sont envoyées et le registre renvoie le digest de l'image.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vérifier, nous supprimons l'image en local. Docker ne la trouve plus, la télécharge depuis ghcr.io avec le même digest, et l'API répond version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supprimons les conteneurs, puis docker image prune libère 40,94 mégaoctets. Docker reste installé pour la séance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 principales difficultés : plusieurs fautes de frappe, une coupure réseau avec Docker Hub, et un jeton GitHub affiché par erreur dans le terminal, que nous avons révoqué aussitôt. Enfin, la VM s'est bloquée par manque de mémoire, et un redémarrage a suffi.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connexion SSH refusée alors que la VM apparaissait bien dans la liste des machines en cours. Nous l'avons arrêtée proprement puis redémarrée, sans rien perdre.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lien avec le cloud : une image dans un registre joue le rôle d'une image de machine. Lancer plusieurs conteneurs illustre l'élasticité. Un conteneur est plus léger, donc moins coûteux. Et les secrets ne doivent jamais être mis dans le code ni dans l'image.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 un conteneur n'est pas une petite machine virtuelle, c'est un processus isolé qui partage le noyau. Il est beaucoup plus léger et rapide. Nous avons conteneurisé notre API, profité du cache de build, puis publié et récupéré l'image depuis GitHub Container Registry. Merci d'avoir regardé cette vidéo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1097280"/>
            <a:ext cx="786384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Premiers conteneurs avec Docker</a:t>
            </a:r>
            <a:endParaRPr lang="en-US" sz="4000" dirty="0"/>
          </a:p>
        </p:txBody>
      </p:sp>
      <p:sp>
        <p:nvSpPr>
          <p:cNvPr id="3" name="Text 1"/>
          <p:cNvSpPr txBox="1"/>
          <p:nvPr/>
        </p:nvSpPr>
        <p:spPr>
          <a:xfrm>
            <a:off x="548640" y="2468880"/>
            <a:ext cx="7863840" cy="457200"/>
          </a:xfrm>
          <a:prstGeom prst="rect">
            <a:avLst/>
          </a:prstGeom>
          <a:noFill/>
          <a:ln/>
        </p:spPr>
        <p:txBody>
          <a:bodyPr wrap="square" lIns="0" tIns="0" rIns="0" bIns="0" rtlCol="0" anchor="ctr"/>
          <a:lstStyle/>
          <a:p>
            <a:pPr indent="0" marL="0">
              <a:buNone/>
            </a:pPr>
            <a:r>
              <a:rPr lang="en-US" sz="2000" b="1" dirty="0">
                <a:solidFill>
                  <a:srgbClr val="E39A1B"/>
                </a:solidFill>
                <a:latin typeface="Calibri" pitchFamily="34" charset="0"/>
                <a:ea typeface="Calibri" pitchFamily="34" charset="-122"/>
                <a:cs typeface="Calibri" pitchFamily="34" charset="-120"/>
              </a:rPr>
              <a:t>TP 3 · Introduction au Cloud · L3 SI (BDGL)</a:t>
            </a:r>
            <a:endParaRPr lang="en-US" sz="2000" dirty="0"/>
          </a:p>
        </p:txBody>
      </p:sp>
      <p:sp>
        <p:nvSpPr>
          <p:cNvPr id="4" name="Text 2"/>
          <p:cNvSpPr txBox="1"/>
          <p:nvPr/>
        </p:nvSpPr>
        <p:spPr>
          <a:xfrm>
            <a:off x="548640" y="3108960"/>
            <a:ext cx="7863840" cy="4572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TRA BI TRA Christian David · Kouadio Yao Boffouo Siedou</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Au programme</a:t>
            </a:r>
            <a:endParaRPr lang="en-US" sz="3000" dirty="0"/>
          </a:p>
        </p:txBody>
      </p:sp>
      <p:sp>
        <p:nvSpPr>
          <p:cNvPr id="3" name="Shape 1"/>
          <p:cNvSpPr/>
          <p:nvPr/>
        </p:nvSpPr>
        <p:spPr>
          <a:xfrm>
            <a:off x="457200" y="1097280"/>
            <a:ext cx="8229600" cy="576072"/>
          </a:xfrm>
          <a:prstGeom prst="roundRect">
            <a:avLst>
              <a:gd name="adj" fmla="val 12698"/>
            </a:avLst>
          </a:prstGeom>
          <a:solidFill>
            <a:srgbClr val="EEF4F8"/>
          </a:solidFill>
          <a:ln w="12700">
            <a:solidFill>
              <a:srgbClr val="EEF4F8"/>
            </a:solidFill>
            <a:prstDash val="solid"/>
          </a:ln>
        </p:spPr>
      </p:sp>
      <p:sp>
        <p:nvSpPr>
          <p:cNvPr id="4" name="Text 2"/>
          <p:cNvSpPr txBox="1"/>
          <p:nvPr/>
        </p:nvSpPr>
        <p:spPr>
          <a:xfrm>
            <a:off x="685800" y="1143000"/>
            <a:ext cx="7772400" cy="484632"/>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1 · Installer Docker</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dans la VM ubuntu-srv</a:t>
            </a:r>
            <a:endParaRPr lang="en-US" sz="2200" dirty="0"/>
          </a:p>
        </p:txBody>
      </p:sp>
      <p:sp>
        <p:nvSpPr>
          <p:cNvPr id="5" name="Shape 3"/>
          <p:cNvSpPr/>
          <p:nvPr/>
        </p:nvSpPr>
        <p:spPr>
          <a:xfrm>
            <a:off x="457200" y="1810512"/>
            <a:ext cx="8229600" cy="576072"/>
          </a:xfrm>
          <a:prstGeom prst="roundRect">
            <a:avLst>
              <a:gd name="adj" fmla="val 12698"/>
            </a:avLst>
          </a:prstGeom>
          <a:solidFill>
            <a:srgbClr val="EEF4F8"/>
          </a:solidFill>
          <a:ln w="12700">
            <a:solidFill>
              <a:srgbClr val="EEF4F8"/>
            </a:solidFill>
            <a:prstDash val="solid"/>
          </a:ln>
        </p:spPr>
      </p:sp>
      <p:sp>
        <p:nvSpPr>
          <p:cNvPr id="6" name="Text 4"/>
          <p:cNvSpPr txBox="1"/>
          <p:nvPr/>
        </p:nvSpPr>
        <p:spPr>
          <a:xfrm>
            <a:off x="685800" y="1856232"/>
            <a:ext cx="7772400" cy="484632"/>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2 · Lancer et inspecter</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hello-world, Nginx, volume</a:t>
            </a:r>
            <a:endParaRPr lang="en-US" sz="2200" dirty="0"/>
          </a:p>
        </p:txBody>
      </p:sp>
      <p:sp>
        <p:nvSpPr>
          <p:cNvPr id="7" name="Shape 5"/>
          <p:cNvSpPr/>
          <p:nvPr/>
        </p:nvSpPr>
        <p:spPr>
          <a:xfrm>
            <a:off x="457200" y="2523744"/>
            <a:ext cx="8229600" cy="576072"/>
          </a:xfrm>
          <a:prstGeom prst="roundRect">
            <a:avLst>
              <a:gd name="adj" fmla="val 12698"/>
            </a:avLst>
          </a:prstGeom>
          <a:solidFill>
            <a:srgbClr val="EEF4F8"/>
          </a:solidFill>
          <a:ln w="12700">
            <a:solidFill>
              <a:srgbClr val="EEF4F8"/>
            </a:solidFill>
            <a:prstDash val="solid"/>
          </a:ln>
        </p:spPr>
      </p:sp>
      <p:sp>
        <p:nvSpPr>
          <p:cNvPr id="8" name="Text 6"/>
          <p:cNvSpPr txBox="1"/>
          <p:nvPr/>
        </p:nvSpPr>
        <p:spPr>
          <a:xfrm>
            <a:off x="685800" y="2569464"/>
            <a:ext cx="7772400" cy="484632"/>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3 · Conteneur ou VM ?</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taille, mémoire, démarrage</a:t>
            </a:r>
            <a:endParaRPr lang="en-US" sz="2200" dirty="0"/>
          </a:p>
        </p:txBody>
      </p:sp>
      <p:sp>
        <p:nvSpPr>
          <p:cNvPr id="9" name="Shape 7"/>
          <p:cNvSpPr/>
          <p:nvPr/>
        </p:nvSpPr>
        <p:spPr>
          <a:xfrm>
            <a:off x="457200" y="3236976"/>
            <a:ext cx="8229600" cy="576072"/>
          </a:xfrm>
          <a:prstGeom prst="roundRect">
            <a:avLst>
              <a:gd name="adj" fmla="val 12698"/>
            </a:avLst>
          </a:prstGeom>
          <a:solidFill>
            <a:srgbClr val="EEF4F8"/>
          </a:solidFill>
          <a:ln w="12700">
            <a:solidFill>
              <a:srgbClr val="EEF4F8"/>
            </a:solidFill>
            <a:prstDash val="solid"/>
          </a:ln>
        </p:spPr>
      </p:sp>
      <p:sp>
        <p:nvSpPr>
          <p:cNvPr id="10" name="Text 8"/>
          <p:cNvSpPr txBox="1"/>
          <p:nvPr/>
        </p:nvSpPr>
        <p:spPr>
          <a:xfrm>
            <a:off x="685800" y="3282696"/>
            <a:ext cx="7772400" cy="484632"/>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4 · Conteneuriser notre API</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Dockerfile, cache de build</a:t>
            </a:r>
            <a:endParaRPr lang="en-US" sz="2200" dirty="0"/>
          </a:p>
        </p:txBody>
      </p:sp>
      <p:sp>
        <p:nvSpPr>
          <p:cNvPr id="11" name="Shape 9"/>
          <p:cNvSpPr/>
          <p:nvPr/>
        </p:nvSpPr>
        <p:spPr>
          <a:xfrm>
            <a:off x="457200" y="3950208"/>
            <a:ext cx="8229600" cy="576072"/>
          </a:xfrm>
          <a:prstGeom prst="roundRect">
            <a:avLst>
              <a:gd name="adj" fmla="val 12698"/>
            </a:avLst>
          </a:prstGeom>
          <a:solidFill>
            <a:srgbClr val="EEF4F8"/>
          </a:solidFill>
          <a:ln w="12700">
            <a:solidFill>
              <a:srgbClr val="EEF4F8"/>
            </a:solidFill>
            <a:prstDash val="solid"/>
          </a:ln>
        </p:spPr>
      </p:sp>
      <p:sp>
        <p:nvSpPr>
          <p:cNvPr id="12" name="Text 10"/>
          <p:cNvSpPr txBox="1"/>
          <p:nvPr/>
        </p:nvSpPr>
        <p:spPr>
          <a:xfrm>
            <a:off x="685800" y="3995928"/>
            <a:ext cx="7772400" cy="484632"/>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5 · Publier l’image</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GitHub Container Registry</a:t>
            </a:r>
            <a:endParaRPr lang="en-US" sz="2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Conteneur et image</a:t>
            </a:r>
            <a:endParaRPr lang="en-US" sz="3000" dirty="0"/>
          </a:p>
        </p:txBody>
      </p:sp>
      <p:sp>
        <p:nvSpPr>
          <p:cNvPr id="3" name="Shape 1"/>
          <p:cNvSpPr/>
          <p:nvPr/>
        </p:nvSpPr>
        <p:spPr>
          <a:xfrm>
            <a:off x="457200" y="1097280"/>
            <a:ext cx="8229600" cy="777240"/>
          </a:xfrm>
          <a:prstGeom prst="roundRect">
            <a:avLst>
              <a:gd name="adj" fmla="val 9412"/>
            </a:avLst>
          </a:prstGeom>
          <a:solidFill>
            <a:srgbClr val="EEF4F8"/>
          </a:solidFill>
          <a:ln w="12700">
            <a:solidFill>
              <a:srgbClr val="EEF4F8"/>
            </a:solidFill>
            <a:prstDash val="solid"/>
          </a:ln>
        </p:spPr>
      </p:sp>
      <p:sp>
        <p:nvSpPr>
          <p:cNvPr id="4" name="Text 2"/>
          <p:cNvSpPr txBox="1"/>
          <p:nvPr/>
        </p:nvSpPr>
        <p:spPr>
          <a:xfrm>
            <a:off x="685800" y="11430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Image</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Un modèle en lecture seule, fait de couches</a:t>
            </a:r>
            <a:endParaRPr lang="en-US" sz="2200" dirty="0"/>
          </a:p>
        </p:txBody>
      </p:sp>
      <p:sp>
        <p:nvSpPr>
          <p:cNvPr id="5" name="Shape 3"/>
          <p:cNvSpPr/>
          <p:nvPr/>
        </p:nvSpPr>
        <p:spPr>
          <a:xfrm>
            <a:off x="457200" y="2011680"/>
            <a:ext cx="8229600" cy="777240"/>
          </a:xfrm>
          <a:prstGeom prst="roundRect">
            <a:avLst>
              <a:gd name="adj" fmla="val 9412"/>
            </a:avLst>
          </a:prstGeom>
          <a:solidFill>
            <a:srgbClr val="EEF4F8"/>
          </a:solidFill>
          <a:ln w="12700">
            <a:solidFill>
              <a:srgbClr val="EEF4F8"/>
            </a:solidFill>
            <a:prstDash val="solid"/>
          </a:ln>
        </p:spPr>
      </p:sp>
      <p:sp>
        <p:nvSpPr>
          <p:cNvPr id="6" name="Text 4"/>
          <p:cNvSpPr txBox="1"/>
          <p:nvPr/>
        </p:nvSpPr>
        <p:spPr>
          <a:xfrm>
            <a:off x="685800" y="20574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Conteneur</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Un processus isolé qui partage le noyau de la VM</a:t>
            </a:r>
            <a:endParaRPr lang="en-US" sz="2200" dirty="0"/>
          </a:p>
        </p:txBody>
      </p:sp>
      <p:sp>
        <p:nvSpPr>
          <p:cNvPr id="7" name="Shape 5"/>
          <p:cNvSpPr/>
          <p:nvPr/>
        </p:nvSpPr>
        <p:spPr>
          <a:xfrm>
            <a:off x="457200" y="2926080"/>
            <a:ext cx="8229600" cy="777240"/>
          </a:xfrm>
          <a:prstGeom prst="roundRect">
            <a:avLst>
              <a:gd name="adj" fmla="val 9412"/>
            </a:avLst>
          </a:prstGeom>
          <a:solidFill>
            <a:srgbClr val="EEF4F8"/>
          </a:solidFill>
          <a:ln w="12700">
            <a:solidFill>
              <a:srgbClr val="EEF4F8"/>
            </a:solidFill>
            <a:prstDash val="solid"/>
          </a:ln>
        </p:spPr>
      </p:sp>
      <p:sp>
        <p:nvSpPr>
          <p:cNvPr id="8" name="Text 6"/>
          <p:cNvSpPr txBox="1"/>
          <p:nvPr/>
        </p:nvSpPr>
        <p:spPr>
          <a:xfrm>
            <a:off x="685800" y="29718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Dockerfile</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La recette pour construire une image</a:t>
            </a:r>
            <a:endParaRPr lang="en-US" sz="2200" dirty="0"/>
          </a:p>
        </p:txBody>
      </p:sp>
      <p:sp>
        <p:nvSpPr>
          <p:cNvPr id="9" name="Shape 7"/>
          <p:cNvSpPr/>
          <p:nvPr/>
        </p:nvSpPr>
        <p:spPr>
          <a:xfrm>
            <a:off x="457200" y="3840480"/>
            <a:ext cx="8229600" cy="777240"/>
          </a:xfrm>
          <a:prstGeom prst="roundRect">
            <a:avLst>
              <a:gd name="adj" fmla="val 9412"/>
            </a:avLst>
          </a:prstGeom>
          <a:solidFill>
            <a:srgbClr val="EEF4F8"/>
          </a:solidFill>
          <a:ln w="12700">
            <a:solidFill>
              <a:srgbClr val="EEF4F8"/>
            </a:solidFill>
            <a:prstDash val="solid"/>
          </a:ln>
        </p:spPr>
      </p:sp>
      <p:sp>
        <p:nvSpPr>
          <p:cNvPr id="10" name="Text 8"/>
          <p:cNvSpPr txBox="1"/>
          <p:nvPr/>
        </p:nvSpPr>
        <p:spPr>
          <a:xfrm>
            <a:off x="685800" y="38862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Registre</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Le serveur qui stocke les images (GHCR)</a:t>
            </a:r>
            <a:endParaRPr lang="en-US" sz="2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Volume, tag, cache</a:t>
            </a:r>
            <a:endParaRPr lang="en-US" sz="3000" dirty="0"/>
          </a:p>
        </p:txBody>
      </p:sp>
      <p:sp>
        <p:nvSpPr>
          <p:cNvPr id="3" name="Shape 1"/>
          <p:cNvSpPr/>
          <p:nvPr/>
        </p:nvSpPr>
        <p:spPr>
          <a:xfrm>
            <a:off x="457200" y="1097280"/>
            <a:ext cx="8229600" cy="777240"/>
          </a:xfrm>
          <a:prstGeom prst="roundRect">
            <a:avLst>
              <a:gd name="adj" fmla="val 9412"/>
            </a:avLst>
          </a:prstGeom>
          <a:solidFill>
            <a:srgbClr val="EEF4F8"/>
          </a:solidFill>
          <a:ln w="12700">
            <a:solidFill>
              <a:srgbClr val="EEF4F8"/>
            </a:solidFill>
            <a:prstDash val="solid"/>
          </a:ln>
        </p:spPr>
      </p:sp>
      <p:sp>
        <p:nvSpPr>
          <p:cNvPr id="4" name="Text 2"/>
          <p:cNvSpPr txBox="1"/>
          <p:nvPr/>
        </p:nvSpPr>
        <p:spPr>
          <a:xfrm>
            <a:off x="685800" y="11430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Volume</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Un dossier de la VM monté dans le conteneur : il survit</a:t>
            </a:r>
            <a:endParaRPr lang="en-US" sz="2200" dirty="0"/>
          </a:p>
        </p:txBody>
      </p:sp>
      <p:sp>
        <p:nvSpPr>
          <p:cNvPr id="5" name="Shape 3"/>
          <p:cNvSpPr/>
          <p:nvPr/>
        </p:nvSpPr>
        <p:spPr>
          <a:xfrm>
            <a:off x="457200" y="2011680"/>
            <a:ext cx="8229600" cy="777240"/>
          </a:xfrm>
          <a:prstGeom prst="roundRect">
            <a:avLst>
              <a:gd name="adj" fmla="val 9412"/>
            </a:avLst>
          </a:prstGeom>
          <a:solidFill>
            <a:srgbClr val="EEF4F8"/>
          </a:solidFill>
          <a:ln w="12700">
            <a:solidFill>
              <a:srgbClr val="EEF4F8"/>
            </a:solidFill>
            <a:prstDash val="solid"/>
          </a:ln>
        </p:spPr>
      </p:sp>
      <p:sp>
        <p:nvSpPr>
          <p:cNvPr id="6" name="Text 4"/>
          <p:cNvSpPr txBox="1"/>
          <p:nvPr/>
        </p:nvSpPr>
        <p:spPr>
          <a:xfrm>
            <a:off x="685800" y="20574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Port publié (-p 8080:80)</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Relie un port de la VM à un port du conteneur</a:t>
            </a:r>
            <a:endParaRPr lang="en-US" sz="2200" dirty="0"/>
          </a:p>
        </p:txBody>
      </p:sp>
      <p:sp>
        <p:nvSpPr>
          <p:cNvPr id="7" name="Shape 5"/>
          <p:cNvSpPr/>
          <p:nvPr/>
        </p:nvSpPr>
        <p:spPr>
          <a:xfrm>
            <a:off x="457200" y="2926080"/>
            <a:ext cx="8229600" cy="777240"/>
          </a:xfrm>
          <a:prstGeom prst="roundRect">
            <a:avLst>
              <a:gd name="adj" fmla="val 9412"/>
            </a:avLst>
          </a:prstGeom>
          <a:solidFill>
            <a:srgbClr val="EEF4F8"/>
          </a:solidFill>
          <a:ln w="12700">
            <a:solidFill>
              <a:srgbClr val="EEF4F8"/>
            </a:solidFill>
            <a:prstDash val="solid"/>
          </a:ln>
        </p:spPr>
      </p:sp>
      <p:sp>
        <p:nvSpPr>
          <p:cNvPr id="8" name="Text 6"/>
          <p:cNvSpPr txBox="1"/>
          <p:nvPr/>
        </p:nvSpPr>
        <p:spPr>
          <a:xfrm>
            <a:off x="685800" y="29718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Tag (1.1)</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La version d’une image, plus fiable que latest</a:t>
            </a:r>
            <a:endParaRPr lang="en-US" sz="2200" dirty="0"/>
          </a:p>
        </p:txBody>
      </p:sp>
      <p:sp>
        <p:nvSpPr>
          <p:cNvPr id="9" name="Shape 7"/>
          <p:cNvSpPr/>
          <p:nvPr/>
        </p:nvSpPr>
        <p:spPr>
          <a:xfrm>
            <a:off x="457200" y="3840480"/>
            <a:ext cx="8229600" cy="777240"/>
          </a:xfrm>
          <a:prstGeom prst="roundRect">
            <a:avLst>
              <a:gd name="adj" fmla="val 9412"/>
            </a:avLst>
          </a:prstGeom>
          <a:solidFill>
            <a:srgbClr val="EEF4F8"/>
          </a:solidFill>
          <a:ln w="12700">
            <a:solidFill>
              <a:srgbClr val="EEF4F8"/>
            </a:solidFill>
            <a:prstDash val="solid"/>
          </a:ln>
        </p:spPr>
      </p:sp>
      <p:sp>
        <p:nvSpPr>
          <p:cNvPr id="10" name="Text 8"/>
          <p:cNvSpPr txBox="1"/>
          <p:nvPr/>
        </p:nvSpPr>
        <p:spPr>
          <a:xfrm>
            <a:off x="685800" y="38862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Cache de build</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Les couches inchangées ne sont pas reconstruites</a:t>
            </a:r>
            <a:endParaRPr lang="en-US" sz="2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Architecture du TP</a:t>
            </a:r>
            <a:endParaRPr lang="en-US" sz="3000" dirty="0"/>
          </a:p>
        </p:txBody>
      </p:sp>
      <p:sp>
        <p:nvSpPr>
          <p:cNvPr id="3" name="Shape 1"/>
          <p:cNvSpPr/>
          <p:nvPr/>
        </p:nvSpPr>
        <p:spPr>
          <a:xfrm>
            <a:off x="365760" y="1828800"/>
            <a:ext cx="2011680" cy="1463040"/>
          </a:xfrm>
          <a:prstGeom prst="roundRect">
            <a:avLst>
              <a:gd name="adj" fmla="val 5000"/>
            </a:avLst>
          </a:prstGeom>
          <a:solidFill>
            <a:srgbClr val="0B1F3A"/>
          </a:solidFill>
          <a:ln w="12700">
            <a:solidFill>
              <a:srgbClr val="0B1F3A"/>
            </a:solidFill>
            <a:prstDash val="solid"/>
          </a:ln>
        </p:spPr>
      </p:sp>
      <p:sp>
        <p:nvSpPr>
          <p:cNvPr id="4" name="Text 2"/>
          <p:cNvSpPr txBox="1"/>
          <p:nvPr/>
        </p:nvSpPr>
        <p:spPr>
          <a:xfrm>
            <a:off x="365760" y="1828800"/>
            <a:ext cx="2011680" cy="1463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Navigateur Windows</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127.0.0.1</a:t>
            </a:r>
            <a:endParaRPr lang="en-US" sz="1600" dirty="0"/>
          </a:p>
        </p:txBody>
      </p:sp>
      <p:sp>
        <p:nvSpPr>
          <p:cNvPr id="5" name="Shape 3"/>
          <p:cNvSpPr/>
          <p:nvPr/>
        </p:nvSpPr>
        <p:spPr>
          <a:xfrm>
            <a:off x="2926080" y="1097280"/>
            <a:ext cx="2194560" cy="1097280"/>
          </a:xfrm>
          <a:prstGeom prst="roundRect">
            <a:avLst>
              <a:gd name="adj" fmla="val 6667"/>
            </a:avLst>
          </a:prstGeom>
          <a:solidFill>
            <a:srgbClr val="5B7C99"/>
          </a:solidFill>
          <a:ln w="12700">
            <a:solidFill>
              <a:srgbClr val="5B7C99"/>
            </a:solidFill>
            <a:prstDash val="solid"/>
          </a:ln>
        </p:spPr>
      </p:sp>
      <p:sp>
        <p:nvSpPr>
          <p:cNvPr id="6" name="Text 4"/>
          <p:cNvSpPr txBox="1"/>
          <p:nvPr/>
        </p:nvSpPr>
        <p:spPr>
          <a:xfrm>
            <a:off x="2926080" y="1097280"/>
            <a:ext cx="219456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Redirection VirtualBox</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8080 · 5000</a:t>
            </a:r>
            <a:endParaRPr lang="en-US" sz="1600" dirty="0"/>
          </a:p>
        </p:txBody>
      </p:sp>
      <p:sp>
        <p:nvSpPr>
          <p:cNvPr id="7" name="Shape 5"/>
          <p:cNvSpPr/>
          <p:nvPr/>
        </p:nvSpPr>
        <p:spPr>
          <a:xfrm>
            <a:off x="2926080" y="2926080"/>
            <a:ext cx="2194560" cy="1097280"/>
          </a:xfrm>
          <a:prstGeom prst="roundRect">
            <a:avLst>
              <a:gd name="adj" fmla="val 6667"/>
            </a:avLst>
          </a:prstGeom>
          <a:solidFill>
            <a:srgbClr val="5B7C99"/>
          </a:solidFill>
          <a:ln w="12700">
            <a:solidFill>
              <a:srgbClr val="5B7C99"/>
            </a:solidFill>
            <a:prstDash val="solid"/>
          </a:ln>
        </p:spPr>
      </p:sp>
      <p:sp>
        <p:nvSpPr>
          <p:cNvPr id="8" name="Text 6"/>
          <p:cNvSpPr txBox="1"/>
          <p:nvPr/>
        </p:nvSpPr>
        <p:spPr>
          <a:xfrm>
            <a:off x="2926080" y="2926080"/>
            <a:ext cx="219456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Publication Docker</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-p 8080:80 · -p 5000:5000</a:t>
            </a:r>
            <a:endParaRPr lang="en-US" sz="1600" dirty="0"/>
          </a:p>
        </p:txBody>
      </p:sp>
      <p:sp>
        <p:nvSpPr>
          <p:cNvPr id="9" name="Shape 7"/>
          <p:cNvSpPr/>
          <p:nvPr/>
        </p:nvSpPr>
        <p:spPr>
          <a:xfrm>
            <a:off x="5760720" y="1097280"/>
            <a:ext cx="3017520" cy="1097280"/>
          </a:xfrm>
          <a:prstGeom prst="roundRect">
            <a:avLst>
              <a:gd name="adj" fmla="val 6667"/>
            </a:avLst>
          </a:prstGeom>
          <a:solidFill>
            <a:srgbClr val="00798C"/>
          </a:solidFill>
          <a:ln w="12700">
            <a:solidFill>
              <a:srgbClr val="00798C"/>
            </a:solidFill>
            <a:prstDash val="solid"/>
          </a:ln>
        </p:spPr>
      </p:sp>
      <p:sp>
        <p:nvSpPr>
          <p:cNvPr id="10" name="Text 8"/>
          <p:cNvSpPr txBox="1"/>
          <p:nvPr/>
        </p:nvSpPr>
        <p:spPr>
          <a:xfrm>
            <a:off x="5760720" y="1097280"/>
            <a:ext cx="301752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conteneur web</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(nginx, port 80)</a:t>
            </a:r>
            <a:endParaRPr lang="en-US" sz="1600" dirty="0"/>
          </a:p>
        </p:txBody>
      </p:sp>
      <p:sp>
        <p:nvSpPr>
          <p:cNvPr id="11" name="Shape 9"/>
          <p:cNvSpPr/>
          <p:nvPr/>
        </p:nvSpPr>
        <p:spPr>
          <a:xfrm>
            <a:off x="5760720" y="2926080"/>
            <a:ext cx="3017520" cy="1097280"/>
          </a:xfrm>
          <a:prstGeom prst="roundRect">
            <a:avLst>
              <a:gd name="adj" fmla="val 6667"/>
            </a:avLst>
          </a:prstGeom>
          <a:solidFill>
            <a:srgbClr val="00798C"/>
          </a:solidFill>
          <a:ln w="12700">
            <a:solidFill>
              <a:srgbClr val="00798C"/>
            </a:solidFill>
            <a:prstDash val="solid"/>
          </a:ln>
        </p:spPr>
      </p:sp>
      <p:sp>
        <p:nvSpPr>
          <p:cNvPr id="12" name="Text 10"/>
          <p:cNvSpPr txBox="1"/>
          <p:nvPr/>
        </p:nvSpPr>
        <p:spPr>
          <a:xfrm>
            <a:off x="5760720" y="2926080"/>
            <a:ext cx="301752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conteneur api</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(api:1.1, port 5000)</a:t>
            </a:r>
            <a:endParaRPr lang="en-US" sz="1600" dirty="0"/>
          </a:p>
        </p:txBody>
      </p:sp>
      <p:sp>
        <p:nvSpPr>
          <p:cNvPr id="13" name="Shape 11"/>
          <p:cNvSpPr/>
          <p:nvPr/>
        </p:nvSpPr>
        <p:spPr>
          <a:xfrm flipV="1">
            <a:off x="2377440" y="1645920"/>
            <a:ext cx="548640" cy="731520"/>
          </a:xfrm>
          <a:prstGeom prst="line">
            <a:avLst/>
          </a:prstGeom>
          <a:noFill/>
          <a:ln w="25400">
            <a:solidFill>
              <a:srgbClr val="5B7C99"/>
            </a:solidFill>
            <a:prstDash val="solid"/>
            <a:tailEnd type="triangle"/>
          </a:ln>
        </p:spPr>
      </p:sp>
      <p:sp>
        <p:nvSpPr>
          <p:cNvPr id="14" name="Shape 12"/>
          <p:cNvSpPr/>
          <p:nvPr/>
        </p:nvSpPr>
        <p:spPr>
          <a:xfrm>
            <a:off x="5120640" y="1645920"/>
            <a:ext cx="640080" cy="9144"/>
          </a:xfrm>
          <a:prstGeom prst="line">
            <a:avLst/>
          </a:prstGeom>
          <a:noFill/>
          <a:ln w="25400">
            <a:solidFill>
              <a:srgbClr val="5B7C99"/>
            </a:solidFill>
            <a:prstDash val="solid"/>
            <a:tailEnd type="triangle"/>
          </a:ln>
        </p:spPr>
      </p:sp>
      <p:sp>
        <p:nvSpPr>
          <p:cNvPr id="15" name="Shape 13"/>
          <p:cNvSpPr/>
          <p:nvPr/>
        </p:nvSpPr>
        <p:spPr>
          <a:xfrm>
            <a:off x="5120640" y="3474720"/>
            <a:ext cx="640080" cy="9144"/>
          </a:xfrm>
          <a:prstGeom prst="line">
            <a:avLst/>
          </a:prstGeom>
          <a:noFill/>
          <a:ln w="25400">
            <a:solidFill>
              <a:srgbClr val="5B7C99"/>
            </a:solidFill>
            <a:prstDash val="solid"/>
            <a:tailEnd type="triangle"/>
          </a:ln>
        </p:spPr>
      </p:sp>
      <p:sp>
        <p:nvSpPr>
          <p:cNvPr id="16" name="Text 14"/>
          <p:cNvSpPr txBox="1"/>
          <p:nvPr/>
        </p:nvSpPr>
        <p:spPr>
          <a:xfrm>
            <a:off x="457200" y="4343400"/>
            <a:ext cx="8229600" cy="457200"/>
          </a:xfrm>
          <a:prstGeom prst="rect">
            <a:avLst/>
          </a:prstGeom>
          <a:noFill/>
          <a:ln/>
        </p:spPr>
        <p:txBody>
          <a:bodyPr wrap="square" lIns="0" tIns="0" rIns="0" bIns="0" rtlCol="0" anchor="ctr"/>
          <a:lstStyle/>
          <a:p>
            <a:pPr indent="0" marL="0">
              <a:buNone/>
            </a:pPr>
            <a:r>
              <a:rPr lang="en-US" sz="1800" b="1" dirty="0">
                <a:solidFill>
                  <a:srgbClr val="00798C"/>
                </a:solidFill>
                <a:latin typeface="Calibri" pitchFamily="34" charset="0"/>
                <a:ea typeface="Calibri" pitchFamily="34" charset="-122"/>
                <a:cs typeface="Calibri" pitchFamily="34" charset="-120"/>
              </a:rPr>
              <a:t>Les deux conteneurs partagent le noyau Linux de la VM ubuntu-srv</a:t>
            </a:r>
            <a:endParaRPr lang="en-US" sz="18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Partie 0 · Démarrer la VM</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03">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VM en headless, 3 redirections : ssh, web, api</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Installer Docker (1/2)</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01">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sudo apt install docker.io docker-buildx docker-compose-v2</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Installer Docker (2/2)</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02">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usermod -aG docker $USER, puis reconnexion</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Docker 29.1.3 installé</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04">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Noyau 7.0.0-38-generic · overlayfs · cgroup v2</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Partie 1 · hello-world</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05">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Client → démon → téléchargement → conteneur → sortie</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Images et conteneurs</a:t>
            </a:r>
            <a:endParaRPr lang="en-US" sz="2400" dirty="0"/>
          </a:p>
        </p:txBody>
      </p:sp>
      <p:sp>
        <p:nvSpPr>
          <p:cNvPr id="3" name="Shape 1"/>
          <p:cNvSpPr/>
          <p:nvPr/>
        </p:nvSpPr>
        <p:spPr>
          <a:xfrm>
            <a:off x="365760" y="1829278"/>
            <a:ext cx="8412480" cy="1370645"/>
          </a:xfrm>
          <a:prstGeom prst="roundRect">
            <a:avLst>
              <a:gd name="adj" fmla="val 3336"/>
            </a:avLst>
          </a:prstGeom>
          <a:solidFill>
            <a:srgbClr val="FFFFFF"/>
          </a:solidFill>
          <a:ln w="19050">
            <a:solidFill>
              <a:srgbClr val="00798C"/>
            </a:solidFill>
            <a:prstDash val="solid"/>
          </a:ln>
        </p:spPr>
      </p:sp>
      <p:pic>
        <p:nvPicPr>
          <p:cNvPr id="4" name="Image 0" descr="Capture 06">    </p:cNvPr>
          <p:cNvPicPr>
            <a:picLocks noChangeAspect="1"/>
          </p:cNvPicPr>
          <p:nvPr/>
        </p:nvPicPr>
        <p:blipFill>
          <a:blip r:embed="rId1"/>
          <a:stretch>
            <a:fillRect/>
          </a:stretch>
        </p:blipFill>
        <p:spPr>
          <a:xfrm>
            <a:off x="411480" y="1874998"/>
            <a:ext cx="8321040" cy="1279205"/>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Le conteneur a fini : Exited (0), image de 25,9 kB</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Un serveur Nginx en une commande</a:t>
            </a:r>
            <a:endParaRPr lang="en-US" sz="2400" dirty="0"/>
          </a:p>
        </p:txBody>
      </p:sp>
      <p:sp>
        <p:nvSpPr>
          <p:cNvPr id="3" name="Shape 1"/>
          <p:cNvSpPr/>
          <p:nvPr/>
        </p:nvSpPr>
        <p:spPr>
          <a:xfrm>
            <a:off x="365760" y="938181"/>
            <a:ext cx="8412480" cy="3152838"/>
          </a:xfrm>
          <a:prstGeom prst="roundRect">
            <a:avLst>
              <a:gd name="adj" fmla="val 1450"/>
            </a:avLst>
          </a:prstGeom>
          <a:solidFill>
            <a:srgbClr val="FFFFFF"/>
          </a:solidFill>
          <a:ln w="19050">
            <a:solidFill>
              <a:srgbClr val="00798C"/>
            </a:solidFill>
            <a:prstDash val="solid"/>
          </a:ln>
        </p:spPr>
      </p:sp>
      <p:pic>
        <p:nvPicPr>
          <p:cNvPr id="4" name="Image 0" descr="Capture 07">    </p:cNvPr>
          <p:cNvPicPr>
            <a:picLocks noChangeAspect="1"/>
          </p:cNvPicPr>
          <p:nvPr/>
        </p:nvPicPr>
        <p:blipFill>
          <a:blip r:embed="rId1"/>
          <a:stretch>
            <a:fillRect/>
          </a:stretch>
        </p:blipFill>
        <p:spPr>
          <a:xfrm>
            <a:off x="411480" y="983901"/>
            <a:ext cx="8321040" cy="3061398"/>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docker run -d --name web -p 8080:80 nginx</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Nginx dans le navigateur Windows</a:t>
            </a:r>
            <a:endParaRPr lang="en-US" sz="2400" dirty="0"/>
          </a:p>
        </p:txBody>
      </p:sp>
      <p:sp>
        <p:nvSpPr>
          <p:cNvPr id="3" name="Shape 1"/>
          <p:cNvSpPr/>
          <p:nvPr/>
        </p:nvSpPr>
        <p:spPr>
          <a:xfrm>
            <a:off x="365760" y="1051608"/>
            <a:ext cx="8412480" cy="2925984"/>
          </a:xfrm>
          <a:prstGeom prst="roundRect">
            <a:avLst>
              <a:gd name="adj" fmla="val 1563"/>
            </a:avLst>
          </a:prstGeom>
          <a:solidFill>
            <a:srgbClr val="FFFFFF"/>
          </a:solidFill>
          <a:ln w="19050">
            <a:solidFill>
              <a:srgbClr val="00798C"/>
            </a:solidFill>
            <a:prstDash val="solid"/>
          </a:ln>
        </p:spPr>
      </p:sp>
      <p:pic>
        <p:nvPicPr>
          <p:cNvPr id="4" name="Image 0" descr="Capture 08">    </p:cNvPr>
          <p:cNvPicPr>
            <a:picLocks noChangeAspect="1"/>
          </p:cNvPicPr>
          <p:nvPr/>
        </p:nvPicPr>
        <p:blipFill>
          <a:blip r:embed="rId1"/>
          <a:stretch>
            <a:fillRect/>
          </a:stretch>
        </p:blipFill>
        <p:spPr>
          <a:xfrm>
            <a:off x="411480" y="1097328"/>
            <a:ext cx="8321040" cy="2834544"/>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http://127.0.0.1:8080</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Même noyau, autre distribution</a:t>
            </a:r>
            <a:endParaRPr lang="en-US" sz="2400" dirty="0"/>
          </a:p>
        </p:txBody>
      </p:sp>
      <p:sp>
        <p:nvSpPr>
          <p:cNvPr id="3" name="Shape 1"/>
          <p:cNvSpPr/>
          <p:nvPr/>
        </p:nvSpPr>
        <p:spPr>
          <a:xfrm>
            <a:off x="365760" y="1720607"/>
            <a:ext cx="8412480" cy="1587985"/>
          </a:xfrm>
          <a:prstGeom prst="roundRect">
            <a:avLst>
              <a:gd name="adj" fmla="val 2879"/>
            </a:avLst>
          </a:prstGeom>
          <a:solidFill>
            <a:srgbClr val="FFFFFF"/>
          </a:solidFill>
          <a:ln w="19050">
            <a:solidFill>
              <a:srgbClr val="00798C"/>
            </a:solidFill>
            <a:prstDash val="solid"/>
          </a:ln>
        </p:spPr>
      </p:sp>
      <p:pic>
        <p:nvPicPr>
          <p:cNvPr id="4" name="Image 0" descr="Capture 09">    </p:cNvPr>
          <p:cNvPicPr>
            <a:picLocks noChangeAspect="1"/>
          </p:cNvPicPr>
          <p:nvPr/>
        </p:nvPicPr>
        <p:blipFill>
          <a:blip r:embed="rId1"/>
          <a:stretch>
            <a:fillRect/>
          </a:stretch>
        </p:blipFill>
        <p:spPr>
          <a:xfrm>
            <a:off x="411480" y="1766327"/>
            <a:ext cx="8321040" cy="1496545"/>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Debian 13 dans le conteneur · Ubuntu 26.04 dans la VM</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Un conteneur = des processus de la VM</a:t>
            </a:r>
            <a:endParaRPr lang="en-US" sz="2400" dirty="0"/>
          </a:p>
        </p:txBody>
      </p:sp>
      <p:sp>
        <p:nvSpPr>
          <p:cNvPr id="3" name="Shape 1"/>
          <p:cNvSpPr/>
          <p:nvPr/>
        </p:nvSpPr>
        <p:spPr>
          <a:xfrm>
            <a:off x="365760" y="1161732"/>
            <a:ext cx="8412480" cy="2705737"/>
          </a:xfrm>
          <a:prstGeom prst="roundRect">
            <a:avLst>
              <a:gd name="adj" fmla="val 1690"/>
            </a:avLst>
          </a:prstGeom>
          <a:solidFill>
            <a:srgbClr val="FFFFFF"/>
          </a:solidFill>
          <a:ln w="19050">
            <a:solidFill>
              <a:srgbClr val="00798C"/>
            </a:solidFill>
            <a:prstDash val="solid"/>
          </a:ln>
        </p:spPr>
      </p:sp>
      <p:pic>
        <p:nvPicPr>
          <p:cNvPr id="4" name="Image 0" descr="Capture 10">    </p:cNvPr>
          <p:cNvPicPr>
            <a:picLocks noChangeAspect="1"/>
          </p:cNvPicPr>
          <p:nvPr/>
        </p:nvPicPr>
        <p:blipFill>
          <a:blip r:embed="rId1"/>
          <a:stretch>
            <a:fillRect/>
          </a:stretch>
        </p:blipFill>
        <p:spPr>
          <a:xfrm>
            <a:off x="411480" y="1207452"/>
            <a:ext cx="8321040" cy="2614297"/>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nginx: master PID 2944 visible dans ps aux · 3,4 MiB</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Un conteneur est éphémère</a:t>
            </a:r>
            <a:endParaRPr lang="en-US" sz="2400" dirty="0"/>
          </a:p>
        </p:txBody>
      </p:sp>
      <p:sp>
        <p:nvSpPr>
          <p:cNvPr id="3" name="Shape 1"/>
          <p:cNvSpPr/>
          <p:nvPr/>
        </p:nvSpPr>
        <p:spPr>
          <a:xfrm>
            <a:off x="365760" y="1717503"/>
            <a:ext cx="8412480" cy="1594195"/>
          </a:xfrm>
          <a:prstGeom prst="roundRect">
            <a:avLst>
              <a:gd name="adj" fmla="val 2868"/>
            </a:avLst>
          </a:prstGeom>
          <a:solidFill>
            <a:srgbClr val="FFFFFF"/>
          </a:solidFill>
          <a:ln w="19050">
            <a:solidFill>
              <a:srgbClr val="00798C"/>
            </a:solidFill>
            <a:prstDash val="solid"/>
          </a:ln>
        </p:spPr>
      </p:sp>
      <p:pic>
        <p:nvPicPr>
          <p:cNvPr id="4" name="Image 0" descr="Capture 11">    </p:cNvPr>
          <p:cNvPicPr>
            <a:picLocks noChangeAspect="1"/>
          </p:cNvPicPr>
          <p:nvPr/>
        </p:nvPicPr>
        <p:blipFill>
          <a:blip r:embed="rId1"/>
          <a:stretch>
            <a:fillRect/>
          </a:stretch>
        </p:blipFill>
        <p:spPr>
          <a:xfrm>
            <a:off x="411480" y="1763223"/>
            <a:ext cx="8321040" cy="1502755"/>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Après docker rm -f web, la page modifiée a disparu</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Garder la page avec un volume</a:t>
            </a:r>
            <a:endParaRPr lang="en-US" sz="2400" dirty="0"/>
          </a:p>
        </p:txBody>
      </p:sp>
      <p:sp>
        <p:nvSpPr>
          <p:cNvPr id="3" name="Shape 1"/>
          <p:cNvSpPr/>
          <p:nvPr/>
        </p:nvSpPr>
        <p:spPr>
          <a:xfrm>
            <a:off x="365760" y="1832383"/>
            <a:ext cx="8412480" cy="1364435"/>
          </a:xfrm>
          <a:prstGeom prst="roundRect">
            <a:avLst>
              <a:gd name="adj" fmla="val 3351"/>
            </a:avLst>
          </a:prstGeom>
          <a:solidFill>
            <a:srgbClr val="FFFFFF"/>
          </a:solidFill>
          <a:ln w="19050">
            <a:solidFill>
              <a:srgbClr val="00798C"/>
            </a:solidFill>
            <a:prstDash val="solid"/>
          </a:ln>
        </p:spPr>
      </p:sp>
      <p:pic>
        <p:nvPicPr>
          <p:cNvPr id="4" name="Image 0" descr="Capture 12">    </p:cNvPr>
          <p:cNvPicPr>
            <a:picLocks noChangeAspect="1"/>
          </p:cNvPicPr>
          <p:nvPr/>
        </p:nvPicPr>
        <p:blipFill>
          <a:blip r:embed="rId1"/>
          <a:stretch>
            <a:fillRect/>
          </a:stretch>
        </p:blipFill>
        <p:spPr>
          <a:xfrm>
            <a:off x="411480" y="1878103"/>
            <a:ext cx="8321040" cy="1272995"/>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-v ~/site:/usr/share/nginx/html:ro</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La page survit à la suppression</a:t>
            </a:r>
            <a:endParaRPr lang="en-US" sz="2400" dirty="0"/>
          </a:p>
        </p:txBody>
      </p:sp>
      <p:sp>
        <p:nvSpPr>
          <p:cNvPr id="3" name="Shape 1"/>
          <p:cNvSpPr/>
          <p:nvPr/>
        </p:nvSpPr>
        <p:spPr>
          <a:xfrm>
            <a:off x="365760" y="1941053"/>
            <a:ext cx="8412480" cy="1147094"/>
          </a:xfrm>
          <a:prstGeom prst="roundRect">
            <a:avLst>
              <a:gd name="adj" fmla="val 3986"/>
            </a:avLst>
          </a:prstGeom>
          <a:solidFill>
            <a:srgbClr val="FFFFFF"/>
          </a:solidFill>
          <a:ln w="19050">
            <a:solidFill>
              <a:srgbClr val="00798C"/>
            </a:solidFill>
            <a:prstDash val="solid"/>
          </a:ln>
        </p:spPr>
      </p:sp>
      <p:pic>
        <p:nvPicPr>
          <p:cNvPr id="4" name="Image 0" descr="Capture 13">    </p:cNvPr>
          <p:cNvPicPr>
            <a:picLocks noChangeAspect="1"/>
          </p:cNvPicPr>
          <p:nvPr/>
        </p:nvPicPr>
        <p:blipFill>
          <a:blip r:embed="rId1"/>
          <a:stretch>
            <a:fillRect/>
          </a:stretch>
        </p:blipFill>
        <p:spPr>
          <a:xfrm>
            <a:off x="411480" y="1986773"/>
            <a:ext cx="8321040" cy="1055654"/>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Conteneur recréé, même page servie</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Conteneur ou VM ?</a:t>
            </a:r>
            <a:endParaRPr lang="en-US" sz="3000" dirty="0"/>
          </a:p>
        </p:txBody>
      </p:sp>
      <p:sp>
        <p:nvSpPr>
          <p:cNvPr id="3" name="Shape 1"/>
          <p:cNvSpPr/>
          <p:nvPr/>
        </p:nvSpPr>
        <p:spPr>
          <a:xfrm>
            <a:off x="457200" y="1188720"/>
            <a:ext cx="2560320" cy="2377440"/>
          </a:xfrm>
          <a:prstGeom prst="roundRect">
            <a:avLst>
              <a:gd name="adj" fmla="val 3077"/>
            </a:avLst>
          </a:prstGeom>
          <a:solidFill>
            <a:srgbClr val="EEF4F8"/>
          </a:solidFill>
          <a:ln w="12700">
            <a:solidFill>
              <a:srgbClr val="EEF4F8"/>
            </a:solidFill>
            <a:prstDash val="solid"/>
          </a:ln>
        </p:spPr>
      </p:sp>
      <p:sp>
        <p:nvSpPr>
          <p:cNvPr id="4" name="Text 2"/>
          <p:cNvSpPr txBox="1"/>
          <p:nvPr/>
        </p:nvSpPr>
        <p:spPr>
          <a:xfrm>
            <a:off x="457200" y="1371600"/>
            <a:ext cx="2560320" cy="1005840"/>
          </a:xfrm>
          <a:prstGeom prst="rect">
            <a:avLst/>
          </a:prstGeom>
          <a:noFill/>
          <a:ln/>
        </p:spPr>
        <p:txBody>
          <a:bodyPr wrap="square" lIns="0" tIns="0" rIns="0" bIns="0" rtlCol="0" anchor="ctr"/>
          <a:lstStyle/>
          <a:p>
            <a:pPr algn="ctr" indent="0" marL="0">
              <a:buNone/>
            </a:pPr>
            <a:r>
              <a:rPr lang="en-US" sz="4600" b="1" dirty="0">
                <a:solidFill>
                  <a:srgbClr val="00798C"/>
                </a:solidFill>
                <a:latin typeface="Cambria" pitchFamily="34" charset="0"/>
                <a:ea typeface="Cambria" pitchFamily="34" charset="-122"/>
                <a:cs typeface="Cambria" pitchFamily="34" charset="-120"/>
              </a:rPr>
              <a:t>×30</a:t>
            </a:r>
            <a:endParaRPr lang="en-US" sz="4600" dirty="0"/>
          </a:p>
        </p:txBody>
      </p:sp>
      <p:sp>
        <p:nvSpPr>
          <p:cNvPr id="5" name="Text 3"/>
          <p:cNvSpPr txBox="1"/>
          <p:nvPr/>
        </p:nvSpPr>
        <p:spPr>
          <a:xfrm>
            <a:off x="594360" y="2468880"/>
            <a:ext cx="2286000" cy="1005840"/>
          </a:xfrm>
          <a:prstGeom prst="rect">
            <a:avLst/>
          </a:prstGeom>
          <a:noFill/>
          <a:ln/>
        </p:spPr>
        <p:txBody>
          <a:bodyPr wrap="square" lIns="0" tIns="0" rIns="0" bIns="0" rtlCol="0" anchor="t"/>
          <a:lstStyle/>
          <a:p>
            <a:pPr algn="ctr" indent="0" marL="0">
              <a:buNone/>
            </a:pPr>
            <a:r>
              <a:rPr lang="en-US" sz="1800" dirty="0">
                <a:solidFill>
                  <a:srgbClr val="0B1F3A"/>
                </a:solidFill>
                <a:latin typeface="Calibri" pitchFamily="34" charset="0"/>
                <a:ea typeface="Calibri" pitchFamily="34" charset="-122"/>
                <a:cs typeface="Calibri" pitchFamily="34" charset="-120"/>
              </a:rPr>
              <a:t>plus petit que la VM (243 MB contre 7,17 Go)</a:t>
            </a:r>
            <a:endParaRPr lang="en-US" sz="1800" dirty="0"/>
          </a:p>
        </p:txBody>
      </p:sp>
      <p:sp>
        <p:nvSpPr>
          <p:cNvPr id="6" name="Shape 4"/>
          <p:cNvSpPr/>
          <p:nvPr/>
        </p:nvSpPr>
        <p:spPr>
          <a:xfrm>
            <a:off x="3291840" y="1188720"/>
            <a:ext cx="2560320" cy="2377440"/>
          </a:xfrm>
          <a:prstGeom prst="roundRect">
            <a:avLst>
              <a:gd name="adj" fmla="val 3077"/>
            </a:avLst>
          </a:prstGeom>
          <a:solidFill>
            <a:srgbClr val="EEF4F8"/>
          </a:solidFill>
          <a:ln w="12700">
            <a:solidFill>
              <a:srgbClr val="EEF4F8"/>
            </a:solidFill>
            <a:prstDash val="solid"/>
          </a:ln>
        </p:spPr>
      </p:sp>
      <p:sp>
        <p:nvSpPr>
          <p:cNvPr id="7" name="Text 5"/>
          <p:cNvSpPr txBox="1"/>
          <p:nvPr/>
        </p:nvSpPr>
        <p:spPr>
          <a:xfrm>
            <a:off x="3291840" y="1371600"/>
            <a:ext cx="2560320" cy="1005840"/>
          </a:xfrm>
          <a:prstGeom prst="rect">
            <a:avLst/>
          </a:prstGeom>
          <a:noFill/>
          <a:ln/>
        </p:spPr>
        <p:txBody>
          <a:bodyPr wrap="square" lIns="0" tIns="0" rIns="0" bIns="0" rtlCol="0" anchor="ctr"/>
          <a:lstStyle/>
          <a:p>
            <a:pPr algn="ctr" indent="0" marL="0">
              <a:buNone/>
            </a:pPr>
            <a:r>
              <a:rPr lang="en-US" sz="4600" b="1" dirty="0">
                <a:solidFill>
                  <a:srgbClr val="00798C"/>
                </a:solidFill>
                <a:latin typeface="Cambria" pitchFamily="34" charset="0"/>
                <a:ea typeface="Cambria" pitchFamily="34" charset="-122"/>
                <a:cs typeface="Cambria" pitchFamily="34" charset="-120"/>
              </a:rPr>
              <a:t>×140</a:t>
            </a:r>
            <a:endParaRPr lang="en-US" sz="4600" dirty="0"/>
          </a:p>
        </p:txBody>
      </p:sp>
      <p:sp>
        <p:nvSpPr>
          <p:cNvPr id="8" name="Text 6"/>
          <p:cNvSpPr txBox="1"/>
          <p:nvPr/>
        </p:nvSpPr>
        <p:spPr>
          <a:xfrm>
            <a:off x="3429000" y="2468880"/>
            <a:ext cx="2286000" cy="1005840"/>
          </a:xfrm>
          <a:prstGeom prst="rect">
            <a:avLst/>
          </a:prstGeom>
          <a:noFill/>
          <a:ln/>
        </p:spPr>
        <p:txBody>
          <a:bodyPr wrap="square" lIns="0" tIns="0" rIns="0" bIns="0" rtlCol="0" anchor="t"/>
          <a:lstStyle/>
          <a:p>
            <a:pPr algn="ctr" indent="0" marL="0">
              <a:buNone/>
            </a:pPr>
            <a:r>
              <a:rPr lang="en-US" sz="1800" dirty="0">
                <a:solidFill>
                  <a:srgbClr val="0B1F3A"/>
                </a:solidFill>
                <a:latin typeface="Calibri" pitchFamily="34" charset="0"/>
                <a:ea typeface="Calibri" pitchFamily="34" charset="-122"/>
                <a:cs typeface="Calibri" pitchFamily="34" charset="-120"/>
              </a:rPr>
              <a:t>moins de mémoire (3,4 MiB contre 493 Mi)</a:t>
            </a:r>
            <a:endParaRPr lang="en-US" sz="1800" dirty="0"/>
          </a:p>
        </p:txBody>
      </p:sp>
      <p:sp>
        <p:nvSpPr>
          <p:cNvPr id="9" name="Shape 7"/>
          <p:cNvSpPr/>
          <p:nvPr/>
        </p:nvSpPr>
        <p:spPr>
          <a:xfrm>
            <a:off x="6126480" y="1188720"/>
            <a:ext cx="2560320" cy="2377440"/>
          </a:xfrm>
          <a:prstGeom prst="roundRect">
            <a:avLst>
              <a:gd name="adj" fmla="val 3077"/>
            </a:avLst>
          </a:prstGeom>
          <a:solidFill>
            <a:srgbClr val="EEF4F8"/>
          </a:solidFill>
          <a:ln w="12700">
            <a:solidFill>
              <a:srgbClr val="EEF4F8"/>
            </a:solidFill>
            <a:prstDash val="solid"/>
          </a:ln>
        </p:spPr>
      </p:sp>
      <p:sp>
        <p:nvSpPr>
          <p:cNvPr id="10" name="Text 8"/>
          <p:cNvSpPr txBox="1"/>
          <p:nvPr/>
        </p:nvSpPr>
        <p:spPr>
          <a:xfrm>
            <a:off x="6126480" y="1371600"/>
            <a:ext cx="2560320" cy="1005840"/>
          </a:xfrm>
          <a:prstGeom prst="rect">
            <a:avLst/>
          </a:prstGeom>
          <a:noFill/>
          <a:ln/>
        </p:spPr>
        <p:txBody>
          <a:bodyPr wrap="square" lIns="0" tIns="0" rIns="0" bIns="0" rtlCol="0" anchor="ctr"/>
          <a:lstStyle/>
          <a:p>
            <a:pPr algn="ctr" indent="0" marL="0">
              <a:buNone/>
            </a:pPr>
            <a:r>
              <a:rPr lang="en-US" sz="4600" b="1" dirty="0">
                <a:solidFill>
                  <a:srgbClr val="00798C"/>
                </a:solidFill>
                <a:latin typeface="Cambria" pitchFamily="34" charset="0"/>
                <a:ea typeface="Cambria" pitchFamily="34" charset="-122"/>
                <a:cs typeface="Cambria" pitchFamily="34" charset="-120"/>
              </a:rPr>
              <a:t>×20</a:t>
            </a:r>
            <a:endParaRPr lang="en-US" sz="4600" dirty="0"/>
          </a:p>
        </p:txBody>
      </p:sp>
      <p:sp>
        <p:nvSpPr>
          <p:cNvPr id="11" name="Text 9"/>
          <p:cNvSpPr txBox="1"/>
          <p:nvPr/>
        </p:nvSpPr>
        <p:spPr>
          <a:xfrm>
            <a:off x="6263640" y="2468880"/>
            <a:ext cx="2286000" cy="1005840"/>
          </a:xfrm>
          <a:prstGeom prst="rect">
            <a:avLst/>
          </a:prstGeom>
          <a:noFill/>
          <a:ln/>
        </p:spPr>
        <p:txBody>
          <a:bodyPr wrap="square" lIns="0" tIns="0" rIns="0" bIns="0" rtlCol="0" anchor="t"/>
          <a:lstStyle/>
          <a:p>
            <a:pPr algn="ctr" indent="0" marL="0">
              <a:buNone/>
            </a:pPr>
            <a:r>
              <a:rPr lang="en-US" sz="1800" dirty="0">
                <a:solidFill>
                  <a:srgbClr val="0B1F3A"/>
                </a:solidFill>
                <a:latin typeface="Calibri" pitchFamily="34" charset="0"/>
                <a:ea typeface="Calibri" pitchFamily="34" charset="-122"/>
                <a:cs typeface="Calibri" pitchFamily="34" charset="-120"/>
              </a:rPr>
              <a:t>plus rapide à démarrer (2 s contre 43,7 s)</a:t>
            </a:r>
            <a:endParaRPr lang="en-US" sz="1800" dirty="0"/>
          </a:p>
        </p:txBody>
      </p:sp>
      <p:sp>
        <p:nvSpPr>
          <p:cNvPr id="12" name="Text 10"/>
          <p:cNvSpPr txBox="1"/>
          <p:nvPr/>
        </p:nvSpPr>
        <p:spPr>
          <a:xfrm>
            <a:off x="457200" y="3931920"/>
            <a:ext cx="8229600" cy="73152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Un conteneur est bien plus léger qu’une VM</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Mesures : Alpine et démarrage de la VM</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14">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Alpine : 2 s · VM : 43,712 s au démarrage</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Mémoire de la VM</a:t>
            </a:r>
            <a:endParaRPr lang="en-US" sz="2400" dirty="0"/>
          </a:p>
        </p:txBody>
      </p:sp>
      <p:sp>
        <p:nvSpPr>
          <p:cNvPr id="3" name="Shape 1"/>
          <p:cNvSpPr/>
          <p:nvPr/>
        </p:nvSpPr>
        <p:spPr>
          <a:xfrm>
            <a:off x="365760" y="2003150"/>
            <a:ext cx="8412480" cy="1022900"/>
          </a:xfrm>
          <a:prstGeom prst="roundRect">
            <a:avLst>
              <a:gd name="adj" fmla="val 4470"/>
            </a:avLst>
          </a:prstGeom>
          <a:solidFill>
            <a:srgbClr val="FFFFFF"/>
          </a:solidFill>
          <a:ln w="19050">
            <a:solidFill>
              <a:srgbClr val="00798C"/>
            </a:solidFill>
            <a:prstDash val="solid"/>
          </a:ln>
        </p:spPr>
      </p:sp>
      <p:pic>
        <p:nvPicPr>
          <p:cNvPr id="4" name="Image 0" descr="Capture 15">    </p:cNvPr>
          <p:cNvPicPr>
            <a:picLocks noChangeAspect="1"/>
          </p:cNvPicPr>
          <p:nvPr/>
        </p:nvPicPr>
        <p:blipFill>
          <a:blip r:embed="rId1"/>
          <a:stretch>
            <a:fillRect/>
          </a:stretch>
        </p:blipFill>
        <p:spPr>
          <a:xfrm>
            <a:off x="411480" y="2048870"/>
            <a:ext cx="8321040" cy="93146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493 Mi utilisés sur 1,6 Gi</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Partie 3 · Le Dockerfile de l’API</a:t>
            </a:r>
            <a:endParaRPr lang="en-US" sz="3000" dirty="0"/>
          </a:p>
        </p:txBody>
      </p:sp>
      <p:sp>
        <p:nvSpPr>
          <p:cNvPr id="3" name="Shape 1"/>
          <p:cNvSpPr/>
          <p:nvPr/>
        </p:nvSpPr>
        <p:spPr>
          <a:xfrm>
            <a:off x="457200" y="914400"/>
            <a:ext cx="8229600" cy="2834640"/>
          </a:xfrm>
          <a:prstGeom prst="roundRect">
            <a:avLst>
              <a:gd name="adj" fmla="val 1935"/>
            </a:avLst>
          </a:prstGeom>
          <a:solidFill>
            <a:srgbClr val="0C0C0C"/>
          </a:solidFill>
          <a:ln w="12700">
            <a:solidFill>
              <a:srgbClr val="0C0C0C"/>
            </a:solidFill>
            <a:prstDash val="solid"/>
          </a:ln>
        </p:spPr>
      </p:sp>
      <p:sp>
        <p:nvSpPr>
          <p:cNvPr id="4" name="Text 2"/>
          <p:cNvSpPr txBox="1"/>
          <p:nvPr/>
        </p:nvSpPr>
        <p:spPr>
          <a:xfrm>
            <a:off x="731520" y="1051560"/>
            <a:ext cx="7680960" cy="2560320"/>
          </a:xfrm>
          <a:prstGeom prst="rect">
            <a:avLst/>
          </a:prstGeom>
          <a:noFill/>
          <a:ln/>
        </p:spPr>
        <p:txBody>
          <a:bodyPr wrap="square" lIns="0" tIns="0" rIns="0" bIns="0" rtlCol="0" anchor="t"/>
          <a:lstStyle/>
          <a:p>
            <a:pPr indent="0" marL="0">
              <a:buNone/>
            </a:pPr>
            <a:r>
              <a:rPr lang="en-US" sz="1800" dirty="0">
                <a:solidFill>
                  <a:srgbClr val="E6E6E6"/>
                </a:solidFill>
                <a:latin typeface="Courier New" pitchFamily="34" charset="0"/>
                <a:ea typeface="Courier New" pitchFamily="34" charset="-122"/>
                <a:cs typeface="Courier New" pitchFamily="34" charset="-120"/>
              </a:rPr>
              <a:t>FROM python:3.12-slim</a:t>
            </a:r>
            <a:endParaRPr lang="en-US" sz="1800" dirty="0"/>
          </a:p>
          <a:p>
            <a:pPr indent="0" marL="0">
              <a:buNone/>
            </a:pPr>
            <a:r>
              <a:rPr lang="en-US" sz="1800" dirty="0">
                <a:solidFill>
                  <a:srgbClr val="E6E6E6"/>
                </a:solidFill>
                <a:latin typeface="Courier New" pitchFamily="34" charset="0"/>
                <a:ea typeface="Courier New" pitchFamily="34" charset="-122"/>
                <a:cs typeface="Courier New" pitchFamily="34" charset="-120"/>
              </a:rPr>
              <a:t>WORKDIR /app</a:t>
            </a:r>
            <a:endParaRPr lang="en-US" sz="1800" dirty="0"/>
          </a:p>
          <a:p>
            <a:pPr indent="0" marL="0">
              <a:buNone/>
            </a:pPr>
            <a:r>
              <a:rPr lang="en-US" sz="1800" dirty="0">
                <a:solidFill>
                  <a:srgbClr val="E6E6E6"/>
                </a:solidFill>
                <a:latin typeface="Courier New" pitchFamily="34" charset="0"/>
                <a:ea typeface="Courier New" pitchFamily="34" charset="-122"/>
                <a:cs typeface="Courier New" pitchFamily="34" charset="-120"/>
              </a:rPr>
              <a:t>COPY requirements.txt .</a:t>
            </a:r>
            <a:endParaRPr lang="en-US" sz="1800" dirty="0"/>
          </a:p>
          <a:p>
            <a:pPr indent="0" marL="0">
              <a:buNone/>
            </a:pPr>
            <a:r>
              <a:rPr lang="en-US" sz="1800" dirty="0">
                <a:solidFill>
                  <a:srgbClr val="E6E6E6"/>
                </a:solidFill>
                <a:latin typeface="Courier New" pitchFamily="34" charset="0"/>
                <a:ea typeface="Courier New" pitchFamily="34" charset="-122"/>
                <a:cs typeface="Courier New" pitchFamily="34" charset="-120"/>
              </a:rPr>
              <a:t>RUN pip install --no-cache-dir -r requirements.txt</a:t>
            </a:r>
            <a:endParaRPr lang="en-US" sz="1800" dirty="0"/>
          </a:p>
          <a:p>
            <a:pPr indent="0" marL="0">
              <a:buNone/>
            </a:pPr>
            <a:r>
              <a:rPr lang="en-US" sz="1800" dirty="0">
                <a:solidFill>
                  <a:srgbClr val="E6E6E6"/>
                </a:solidFill>
                <a:latin typeface="Courier New" pitchFamily="34" charset="0"/>
                <a:ea typeface="Courier New" pitchFamily="34" charset="-122"/>
                <a:cs typeface="Courier New" pitchFamily="34" charset="-120"/>
              </a:rPr>
              <a:t>COPY . .</a:t>
            </a:r>
            <a:endParaRPr lang="en-US" sz="1800" dirty="0"/>
          </a:p>
          <a:p>
            <a:pPr indent="0" marL="0">
              <a:buNone/>
            </a:pPr>
            <a:r>
              <a:rPr lang="en-US" sz="1800" dirty="0">
                <a:solidFill>
                  <a:srgbClr val="E6E6E6"/>
                </a:solidFill>
                <a:latin typeface="Courier New" pitchFamily="34" charset="0"/>
                <a:ea typeface="Courier New" pitchFamily="34" charset="-122"/>
                <a:cs typeface="Courier New" pitchFamily="34" charset="-120"/>
              </a:rPr>
              <a:t>EXPOSE 5000</a:t>
            </a:r>
            <a:endParaRPr lang="en-US" sz="1800" dirty="0"/>
          </a:p>
          <a:p>
            <a:pPr indent="0" marL="0">
              <a:buNone/>
            </a:pPr>
            <a:r>
              <a:rPr lang="en-US" sz="1800" dirty="0">
                <a:solidFill>
                  <a:srgbClr val="E6E6E6"/>
                </a:solidFill>
                <a:latin typeface="Courier New" pitchFamily="34" charset="0"/>
                <a:ea typeface="Courier New" pitchFamily="34" charset="-122"/>
                <a:cs typeface="Courier New" pitchFamily="34" charset="-120"/>
              </a:rPr>
              <a:t>CMD ["python", "app.py"]</a:t>
            </a:r>
            <a:endParaRPr lang="en-US" sz="1800" dirty="0"/>
          </a:p>
        </p:txBody>
      </p:sp>
      <p:sp>
        <p:nvSpPr>
          <p:cNvPr id="5" name="Text 3"/>
          <p:cNvSpPr txBox="1"/>
          <p:nvPr/>
        </p:nvSpPr>
        <p:spPr>
          <a:xfrm>
            <a:off x="457200" y="4023360"/>
            <a:ext cx="8229600" cy="54864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On copie requirements.txt avant le code : pip reste en cache</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Le code de l’API</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16">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Routes / et /sante · flask&gt;=3,&lt;4</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Construire l’image api:1.0</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18">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41 secondes pour construire l’image</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Image et couches</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19">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198 MB · 16 couches dont 6 de notre Dockerfile</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Lancer l’API</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20">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Variable -e BINOME · routes / et /sante répondent</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L’API dans le navigateur</a:t>
            </a:r>
            <a:endParaRPr lang="en-US" sz="2400" dirty="0"/>
          </a:p>
        </p:txBody>
      </p:sp>
      <p:sp>
        <p:nvSpPr>
          <p:cNvPr id="3" name="Shape 1"/>
          <p:cNvSpPr/>
          <p:nvPr/>
        </p:nvSpPr>
        <p:spPr>
          <a:xfrm>
            <a:off x="365760" y="2121662"/>
            <a:ext cx="8412480" cy="785875"/>
          </a:xfrm>
          <a:prstGeom prst="roundRect">
            <a:avLst>
              <a:gd name="adj" fmla="val 5818"/>
            </a:avLst>
          </a:prstGeom>
          <a:solidFill>
            <a:srgbClr val="FFFFFF"/>
          </a:solidFill>
          <a:ln w="19050">
            <a:solidFill>
              <a:srgbClr val="00798C"/>
            </a:solidFill>
            <a:prstDash val="solid"/>
          </a:ln>
        </p:spPr>
      </p:sp>
      <p:pic>
        <p:nvPicPr>
          <p:cNvPr id="4" name="Image 0" descr="Capture 21">    </p:cNvPr>
          <p:cNvPicPr>
            <a:picLocks noChangeAspect="1"/>
          </p:cNvPicPr>
          <p:nvPr/>
        </p:nvPicPr>
        <p:blipFill>
          <a:blip r:embed="rId1"/>
          <a:stretch>
            <a:fillRect/>
          </a:stretch>
        </p:blipFill>
        <p:spPr>
          <a:xfrm>
            <a:off x="411480" y="2167382"/>
            <a:ext cx="8321040" cy="694435"/>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Réponse JSON avec le nom du conteneur</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Trois copies de la même image</a:t>
            </a:r>
            <a:endParaRPr lang="en-US" sz="2400" dirty="0"/>
          </a:p>
        </p:txBody>
      </p:sp>
      <p:sp>
        <p:nvSpPr>
          <p:cNvPr id="3" name="Shape 1"/>
          <p:cNvSpPr/>
          <p:nvPr/>
        </p:nvSpPr>
        <p:spPr>
          <a:xfrm>
            <a:off x="365760" y="1273507"/>
            <a:ext cx="8412480" cy="2482187"/>
          </a:xfrm>
          <a:prstGeom prst="roundRect">
            <a:avLst>
              <a:gd name="adj" fmla="val 1842"/>
            </a:avLst>
          </a:prstGeom>
          <a:solidFill>
            <a:srgbClr val="FFFFFF"/>
          </a:solidFill>
          <a:ln w="19050">
            <a:solidFill>
              <a:srgbClr val="00798C"/>
            </a:solidFill>
            <a:prstDash val="solid"/>
          </a:ln>
        </p:spPr>
      </p:sp>
      <p:pic>
        <p:nvPicPr>
          <p:cNvPr id="4" name="Image 0" descr="Capture 22">    </p:cNvPr>
          <p:cNvPicPr>
            <a:picLocks noChangeAspect="1"/>
          </p:cNvPicPr>
          <p:nvPr/>
        </p:nvPicPr>
        <p:blipFill>
          <a:blip r:embed="rId1"/>
          <a:stretch>
            <a:fillRect/>
          </a:stretch>
        </p:blipFill>
        <p:spPr>
          <a:xfrm>
            <a:off x="411480" y="1319227"/>
            <a:ext cx="8321040" cy="2390747"/>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3 conteneurs · 3 identifiants différents</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Cache de build</a:t>
            </a:r>
            <a:endParaRPr lang="en-US" sz="3000" dirty="0"/>
          </a:p>
        </p:txBody>
      </p:sp>
      <p:sp>
        <p:nvSpPr>
          <p:cNvPr id="3" name="Shape 1"/>
          <p:cNvSpPr/>
          <p:nvPr/>
        </p:nvSpPr>
        <p:spPr>
          <a:xfrm>
            <a:off x="457200" y="1188720"/>
            <a:ext cx="3931920" cy="2377440"/>
          </a:xfrm>
          <a:prstGeom prst="roundRect">
            <a:avLst>
              <a:gd name="adj" fmla="val 3077"/>
            </a:avLst>
          </a:prstGeom>
          <a:solidFill>
            <a:srgbClr val="EEF4F8"/>
          </a:solidFill>
          <a:ln w="12700">
            <a:solidFill>
              <a:srgbClr val="EEF4F8"/>
            </a:solidFill>
            <a:prstDash val="solid"/>
          </a:ln>
        </p:spPr>
      </p:sp>
      <p:sp>
        <p:nvSpPr>
          <p:cNvPr id="4" name="Text 2"/>
          <p:cNvSpPr txBox="1"/>
          <p:nvPr/>
        </p:nvSpPr>
        <p:spPr>
          <a:xfrm>
            <a:off x="457200" y="1371600"/>
            <a:ext cx="3931920" cy="1005840"/>
          </a:xfrm>
          <a:prstGeom prst="rect">
            <a:avLst/>
          </a:prstGeom>
          <a:noFill/>
          <a:ln/>
        </p:spPr>
        <p:txBody>
          <a:bodyPr wrap="square" lIns="0" tIns="0" rIns="0" bIns="0" rtlCol="0" anchor="ctr"/>
          <a:lstStyle/>
          <a:p>
            <a:pPr algn="ctr" indent="0" marL="0">
              <a:buNone/>
            </a:pPr>
            <a:r>
              <a:rPr lang="en-US" sz="4600" b="1" dirty="0">
                <a:solidFill>
                  <a:srgbClr val="00798C"/>
                </a:solidFill>
                <a:latin typeface="Cambria" pitchFamily="34" charset="0"/>
                <a:ea typeface="Cambria" pitchFamily="34" charset="-122"/>
                <a:cs typeface="Cambria" pitchFamily="34" charset="-120"/>
              </a:rPr>
              <a:t>41 s</a:t>
            </a:r>
            <a:endParaRPr lang="en-US" sz="4600" dirty="0"/>
          </a:p>
        </p:txBody>
      </p:sp>
      <p:sp>
        <p:nvSpPr>
          <p:cNvPr id="5" name="Text 3"/>
          <p:cNvSpPr txBox="1"/>
          <p:nvPr/>
        </p:nvSpPr>
        <p:spPr>
          <a:xfrm>
            <a:off x="594360" y="2468880"/>
            <a:ext cx="3657600" cy="1005840"/>
          </a:xfrm>
          <a:prstGeom prst="rect">
            <a:avLst/>
          </a:prstGeom>
          <a:noFill/>
          <a:ln/>
        </p:spPr>
        <p:txBody>
          <a:bodyPr wrap="square" lIns="0" tIns="0" rIns="0" bIns="0" rtlCol="0" anchor="t"/>
          <a:lstStyle/>
          <a:p>
            <a:pPr algn="ctr" indent="0" marL="0">
              <a:buNone/>
            </a:pPr>
            <a:r>
              <a:rPr lang="en-US" sz="1800" dirty="0">
                <a:solidFill>
                  <a:srgbClr val="0B1F3A"/>
                </a:solidFill>
                <a:latin typeface="Calibri" pitchFamily="34" charset="0"/>
                <a:ea typeface="Calibri" pitchFamily="34" charset="-122"/>
                <a:cs typeface="Calibri" pitchFamily="34" charset="-120"/>
              </a:rPr>
              <a:t>api:1.0 : tout est construit</a:t>
            </a:r>
            <a:endParaRPr lang="en-US" sz="1800" dirty="0"/>
          </a:p>
        </p:txBody>
      </p:sp>
      <p:sp>
        <p:nvSpPr>
          <p:cNvPr id="6" name="Shape 4"/>
          <p:cNvSpPr/>
          <p:nvPr/>
        </p:nvSpPr>
        <p:spPr>
          <a:xfrm>
            <a:off x="4663440" y="1188720"/>
            <a:ext cx="3931920" cy="2377440"/>
          </a:xfrm>
          <a:prstGeom prst="roundRect">
            <a:avLst>
              <a:gd name="adj" fmla="val 3077"/>
            </a:avLst>
          </a:prstGeom>
          <a:solidFill>
            <a:srgbClr val="EEF4F8"/>
          </a:solidFill>
          <a:ln w="12700">
            <a:solidFill>
              <a:srgbClr val="EEF4F8"/>
            </a:solidFill>
            <a:prstDash val="solid"/>
          </a:ln>
        </p:spPr>
      </p:sp>
      <p:sp>
        <p:nvSpPr>
          <p:cNvPr id="7" name="Text 5"/>
          <p:cNvSpPr txBox="1"/>
          <p:nvPr/>
        </p:nvSpPr>
        <p:spPr>
          <a:xfrm>
            <a:off x="4663440" y="1371600"/>
            <a:ext cx="3931920" cy="1005840"/>
          </a:xfrm>
          <a:prstGeom prst="rect">
            <a:avLst/>
          </a:prstGeom>
          <a:noFill/>
          <a:ln/>
        </p:spPr>
        <p:txBody>
          <a:bodyPr wrap="square" lIns="0" tIns="0" rIns="0" bIns="0" rtlCol="0" anchor="ctr"/>
          <a:lstStyle/>
          <a:p>
            <a:pPr algn="ctr" indent="0" marL="0">
              <a:buNone/>
            </a:pPr>
            <a:r>
              <a:rPr lang="en-US" sz="4600" b="1" dirty="0">
                <a:solidFill>
                  <a:srgbClr val="00798C"/>
                </a:solidFill>
                <a:latin typeface="Cambria" pitchFamily="34" charset="0"/>
                <a:ea typeface="Cambria" pitchFamily="34" charset="-122"/>
                <a:cs typeface="Cambria" pitchFamily="34" charset="-120"/>
              </a:rPr>
              <a:t>4,8 s</a:t>
            </a:r>
            <a:endParaRPr lang="en-US" sz="4600" dirty="0"/>
          </a:p>
        </p:txBody>
      </p:sp>
      <p:sp>
        <p:nvSpPr>
          <p:cNvPr id="8" name="Text 6"/>
          <p:cNvSpPr txBox="1"/>
          <p:nvPr/>
        </p:nvSpPr>
        <p:spPr>
          <a:xfrm>
            <a:off x="4800600" y="2468880"/>
            <a:ext cx="3657600" cy="1005840"/>
          </a:xfrm>
          <a:prstGeom prst="rect">
            <a:avLst/>
          </a:prstGeom>
          <a:noFill/>
          <a:ln/>
        </p:spPr>
        <p:txBody>
          <a:bodyPr wrap="square" lIns="0" tIns="0" rIns="0" bIns="0" rtlCol="0" anchor="t"/>
          <a:lstStyle/>
          <a:p>
            <a:pPr algn="ctr" indent="0" marL="0">
              <a:buNone/>
            </a:pPr>
            <a:r>
              <a:rPr lang="en-US" sz="1800" dirty="0">
                <a:solidFill>
                  <a:srgbClr val="0B1F3A"/>
                </a:solidFill>
                <a:latin typeface="Calibri" pitchFamily="34" charset="0"/>
                <a:ea typeface="Calibri" pitchFamily="34" charset="-122"/>
                <a:cs typeface="Calibri" pitchFamily="34" charset="-120"/>
              </a:rPr>
              <a:t>api:1.1 : seule la copie du code est refaite</a:t>
            </a:r>
            <a:endParaRPr lang="en-US" sz="1800" dirty="0"/>
          </a:p>
        </p:txBody>
      </p:sp>
      <p:sp>
        <p:nvSpPr>
          <p:cNvPr id="9" name="Text 7"/>
          <p:cNvSpPr txBox="1"/>
          <p:nvPr/>
        </p:nvSpPr>
        <p:spPr>
          <a:xfrm>
            <a:off x="457200" y="3931920"/>
            <a:ext cx="8229600" cy="73152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Les couches inchangées sont réutilisées</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Build api:1.1 avec le cache</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23">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Lignes CACHED : seule COPY . . est refaite</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La nouvelle route /version</a:t>
            </a:r>
            <a:endParaRPr lang="en-US" sz="2400" dirty="0"/>
          </a:p>
        </p:txBody>
      </p:sp>
      <p:sp>
        <p:nvSpPr>
          <p:cNvPr id="3" name="Shape 1"/>
          <p:cNvSpPr/>
          <p:nvPr/>
        </p:nvSpPr>
        <p:spPr>
          <a:xfrm>
            <a:off x="365760" y="1941053"/>
            <a:ext cx="8412480" cy="1147094"/>
          </a:xfrm>
          <a:prstGeom prst="roundRect">
            <a:avLst>
              <a:gd name="adj" fmla="val 3986"/>
            </a:avLst>
          </a:prstGeom>
          <a:solidFill>
            <a:srgbClr val="FFFFFF"/>
          </a:solidFill>
          <a:ln w="19050">
            <a:solidFill>
              <a:srgbClr val="00798C"/>
            </a:solidFill>
            <a:prstDash val="solid"/>
          </a:ln>
        </p:spPr>
      </p:sp>
      <p:pic>
        <p:nvPicPr>
          <p:cNvPr id="4" name="Image 0" descr="Capture 24">    </p:cNvPr>
          <p:cNvPicPr>
            <a:picLocks noChangeAspect="1"/>
          </p:cNvPicPr>
          <p:nvPr/>
        </p:nvPicPr>
        <p:blipFill>
          <a:blip r:embed="rId1"/>
          <a:stretch>
            <a:fillRect/>
          </a:stretch>
        </p:blipFill>
        <p:spPr>
          <a:xfrm>
            <a:off x="411480" y="1986773"/>
            <a:ext cx="8321040" cy="1055654"/>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{"version":"1.1"}</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Partie 4 · Publier sur GHCR</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26">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ghcr.io/stephenz45/api-fil-rouge:1.1</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docker push réussi</a:t>
            </a:r>
            <a:endParaRPr lang="en-US" sz="2400" dirty="0"/>
          </a:p>
        </p:txBody>
      </p:sp>
      <p:sp>
        <p:nvSpPr>
          <p:cNvPr id="3" name="Shape 1"/>
          <p:cNvSpPr/>
          <p:nvPr/>
        </p:nvSpPr>
        <p:spPr>
          <a:xfrm>
            <a:off x="365760" y="1587098"/>
            <a:ext cx="8412480" cy="1855004"/>
          </a:xfrm>
          <a:prstGeom prst="roundRect">
            <a:avLst>
              <a:gd name="adj" fmla="val 2465"/>
            </a:avLst>
          </a:prstGeom>
          <a:solidFill>
            <a:srgbClr val="FFFFFF"/>
          </a:solidFill>
          <a:ln w="19050">
            <a:solidFill>
              <a:srgbClr val="00798C"/>
            </a:solidFill>
            <a:prstDash val="solid"/>
          </a:ln>
        </p:spPr>
      </p:sp>
      <p:pic>
        <p:nvPicPr>
          <p:cNvPr id="4" name="Image 0" descr="Capture 27">    </p:cNvPr>
          <p:cNvPicPr>
            <a:picLocks noChangeAspect="1"/>
          </p:cNvPicPr>
          <p:nvPr/>
        </p:nvPicPr>
        <p:blipFill>
          <a:blip r:embed="rId1"/>
          <a:stretch>
            <a:fillRect/>
          </a:stretch>
        </p:blipFill>
        <p:spPr>
          <a:xfrm>
            <a:off x="411480" y="1632818"/>
            <a:ext cx="8321040" cy="1763564"/>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Toutes les couches Pushed · digest sha256:b1c194a2…</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Récupérer l’image depuis le registre</a:t>
            </a:r>
            <a:endParaRPr lang="en-US" sz="2400" dirty="0"/>
          </a:p>
        </p:txBody>
      </p:sp>
      <p:sp>
        <p:nvSpPr>
          <p:cNvPr id="3" name="Shape 1"/>
          <p:cNvSpPr/>
          <p:nvPr/>
        </p:nvSpPr>
        <p:spPr>
          <a:xfrm>
            <a:off x="365760" y="1438065"/>
            <a:ext cx="8412480" cy="2153071"/>
          </a:xfrm>
          <a:prstGeom prst="roundRect">
            <a:avLst>
              <a:gd name="adj" fmla="val 2123"/>
            </a:avLst>
          </a:prstGeom>
          <a:solidFill>
            <a:srgbClr val="FFFFFF"/>
          </a:solidFill>
          <a:ln w="19050">
            <a:solidFill>
              <a:srgbClr val="00798C"/>
            </a:solidFill>
            <a:prstDash val="solid"/>
          </a:ln>
        </p:spPr>
      </p:sp>
      <p:pic>
        <p:nvPicPr>
          <p:cNvPr id="4" name="Image 0" descr="Capture 28">    </p:cNvPr>
          <p:cNvPicPr>
            <a:picLocks noChangeAspect="1"/>
          </p:cNvPicPr>
          <p:nvPr/>
        </p:nvPicPr>
        <p:blipFill>
          <a:blip r:embed="rId1"/>
          <a:stretch>
            <a:fillRect/>
          </a:stretch>
        </p:blipFill>
        <p:spPr>
          <a:xfrm>
            <a:off x="411480" y="1483785"/>
            <a:ext cx="8321040" cy="2061631"/>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Image supprimée en local, puis téléchargée depuis ghcr.io</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Nettoyage</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29">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40,94 MB libérés · Docker reste installé</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Nos difficultés</a:t>
            </a:r>
            <a:endParaRPr lang="en-US" sz="3000" dirty="0"/>
          </a:p>
        </p:txBody>
      </p:sp>
      <p:sp>
        <p:nvSpPr>
          <p:cNvPr id="3" name="Shape 1"/>
          <p:cNvSpPr/>
          <p:nvPr/>
        </p:nvSpPr>
        <p:spPr>
          <a:xfrm>
            <a:off x="457200" y="1097280"/>
            <a:ext cx="8229600" cy="777240"/>
          </a:xfrm>
          <a:prstGeom prst="roundRect">
            <a:avLst>
              <a:gd name="adj" fmla="val 9412"/>
            </a:avLst>
          </a:prstGeom>
          <a:solidFill>
            <a:srgbClr val="EEF4F8"/>
          </a:solidFill>
          <a:ln w="12700">
            <a:solidFill>
              <a:srgbClr val="EEF4F8"/>
            </a:solidFill>
            <a:prstDash val="solid"/>
          </a:ln>
        </p:spPr>
      </p:sp>
      <p:sp>
        <p:nvSpPr>
          <p:cNvPr id="4" name="Text 2"/>
          <p:cNvSpPr txBox="1"/>
          <p:nvPr/>
        </p:nvSpPr>
        <p:spPr>
          <a:xfrm>
            <a:off x="685800" y="11430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Fautes de frappe</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sudo update, --type headles, tag :1.</a:t>
            </a:r>
            <a:endParaRPr lang="en-US" sz="2200" dirty="0"/>
          </a:p>
        </p:txBody>
      </p:sp>
      <p:sp>
        <p:nvSpPr>
          <p:cNvPr id="5" name="Shape 3"/>
          <p:cNvSpPr/>
          <p:nvPr/>
        </p:nvSpPr>
        <p:spPr>
          <a:xfrm>
            <a:off x="457200" y="2011680"/>
            <a:ext cx="8229600" cy="777240"/>
          </a:xfrm>
          <a:prstGeom prst="roundRect">
            <a:avLst>
              <a:gd name="adj" fmla="val 9412"/>
            </a:avLst>
          </a:prstGeom>
          <a:solidFill>
            <a:srgbClr val="EEF4F8"/>
          </a:solidFill>
          <a:ln w="12700">
            <a:solidFill>
              <a:srgbClr val="EEF4F8"/>
            </a:solidFill>
            <a:prstDash val="solid"/>
          </a:ln>
        </p:spPr>
      </p:sp>
      <p:sp>
        <p:nvSpPr>
          <p:cNvPr id="6" name="Text 4"/>
          <p:cNvSpPr txBox="1"/>
          <p:nvPr/>
        </p:nvSpPr>
        <p:spPr>
          <a:xfrm>
            <a:off x="685800" y="20574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Réseau</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coupure avec Docker Hub : on relance la commande</a:t>
            </a:r>
            <a:endParaRPr lang="en-US" sz="2200" dirty="0"/>
          </a:p>
        </p:txBody>
      </p:sp>
      <p:sp>
        <p:nvSpPr>
          <p:cNvPr id="7" name="Shape 5"/>
          <p:cNvSpPr/>
          <p:nvPr/>
        </p:nvSpPr>
        <p:spPr>
          <a:xfrm>
            <a:off x="457200" y="2926080"/>
            <a:ext cx="8229600" cy="777240"/>
          </a:xfrm>
          <a:prstGeom prst="roundRect">
            <a:avLst>
              <a:gd name="adj" fmla="val 9412"/>
            </a:avLst>
          </a:prstGeom>
          <a:solidFill>
            <a:srgbClr val="EEF4F8"/>
          </a:solidFill>
          <a:ln w="12700">
            <a:solidFill>
              <a:srgbClr val="EEF4F8"/>
            </a:solidFill>
            <a:prstDash val="solid"/>
          </a:ln>
        </p:spPr>
      </p:sp>
      <p:sp>
        <p:nvSpPr>
          <p:cNvPr id="8" name="Text 6"/>
          <p:cNvSpPr txBox="1"/>
          <p:nvPr/>
        </p:nvSpPr>
        <p:spPr>
          <a:xfrm>
            <a:off x="685800" y="29718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Jeton GitHub</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affiché par erreur dans le terminal : révoqué et remplacé</a:t>
            </a:r>
            <a:endParaRPr lang="en-US" sz="2200" dirty="0"/>
          </a:p>
        </p:txBody>
      </p:sp>
      <p:sp>
        <p:nvSpPr>
          <p:cNvPr id="9" name="Shape 7"/>
          <p:cNvSpPr/>
          <p:nvPr/>
        </p:nvSpPr>
        <p:spPr>
          <a:xfrm>
            <a:off x="457200" y="3840480"/>
            <a:ext cx="8229600" cy="777240"/>
          </a:xfrm>
          <a:prstGeom prst="roundRect">
            <a:avLst>
              <a:gd name="adj" fmla="val 9412"/>
            </a:avLst>
          </a:prstGeom>
          <a:solidFill>
            <a:srgbClr val="EEF4F8"/>
          </a:solidFill>
          <a:ln w="12700">
            <a:solidFill>
              <a:srgbClr val="EEF4F8"/>
            </a:solidFill>
            <a:prstDash val="solid"/>
          </a:ln>
        </p:spPr>
      </p:sp>
      <p:sp>
        <p:nvSpPr>
          <p:cNvPr id="10" name="Text 8"/>
          <p:cNvSpPr txBox="1"/>
          <p:nvPr/>
        </p:nvSpPr>
        <p:spPr>
          <a:xfrm>
            <a:off x="685800" y="38862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VM bloquée</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ssh Connection reset : arrêt et redémarrage de la VM</a:t>
            </a:r>
            <a:endParaRPr lang="en-US" sz="2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365760" y="109728"/>
            <a:ext cx="8412480" cy="45720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VM bloquée : SSH réinitialisé</a:t>
            </a:r>
            <a:endParaRPr lang="en-US" sz="2400" dirty="0"/>
          </a:p>
        </p:txBody>
      </p:sp>
      <p:sp>
        <p:nvSpPr>
          <p:cNvPr id="3" name="Shape 1"/>
          <p:cNvSpPr/>
          <p:nvPr/>
        </p:nvSpPr>
        <p:spPr>
          <a:xfrm>
            <a:off x="1103665" y="640080"/>
            <a:ext cx="6936669" cy="3749040"/>
          </a:xfrm>
          <a:prstGeom prst="roundRect">
            <a:avLst>
              <a:gd name="adj" fmla="val 1220"/>
            </a:avLst>
          </a:prstGeom>
          <a:solidFill>
            <a:srgbClr val="FFFFFF"/>
          </a:solidFill>
          <a:ln w="19050">
            <a:solidFill>
              <a:srgbClr val="00798C"/>
            </a:solidFill>
            <a:prstDash val="solid"/>
          </a:ln>
        </p:spPr>
      </p:sp>
      <p:pic>
        <p:nvPicPr>
          <p:cNvPr id="4" name="Image 0" descr="Capture 25">    </p:cNvPr>
          <p:cNvPicPr>
            <a:picLocks noChangeAspect="1"/>
          </p:cNvPicPr>
          <p:nvPr/>
        </p:nvPicPr>
        <p:blipFill>
          <a:blip r:embed="rId1"/>
          <a:stretch>
            <a:fillRect/>
          </a:stretch>
        </p:blipFill>
        <p:spPr>
          <a:xfrm>
            <a:off x="1149385" y="685800"/>
            <a:ext cx="6845229" cy="3657600"/>
          </a:xfrm>
          <a:prstGeom prst="rect">
            <a:avLst/>
          </a:prstGeom>
        </p:spPr>
      </p:pic>
      <p:sp>
        <p:nvSpPr>
          <p:cNvPr id="5" name="Text 2"/>
          <p:cNvSpPr txBox="1"/>
          <p:nvPr/>
        </p:nvSpPr>
        <p:spPr>
          <a:xfrm>
            <a:off x="365760" y="4480560"/>
            <a:ext cx="8412480" cy="457200"/>
          </a:xfrm>
          <a:prstGeom prst="rect">
            <a:avLst/>
          </a:prstGeom>
          <a:noFill/>
          <a:ln/>
        </p:spPr>
        <p:txBody>
          <a:bodyPr wrap="square" lIns="0" tIns="0" rIns="0" bIns="0" rtlCol="0" anchor="ctr"/>
          <a:lstStyle/>
          <a:p>
            <a:pPr indent="0" marL="0">
              <a:buNone/>
            </a:pPr>
            <a:r>
              <a:rPr lang="en-US" sz="2000" b="1" dirty="0">
                <a:solidFill>
                  <a:srgbClr val="00798C"/>
                </a:solidFill>
                <a:latin typeface="Calibri" pitchFamily="34" charset="0"/>
                <a:ea typeface="Calibri" pitchFamily="34" charset="-122"/>
                <a:cs typeface="Calibri" pitchFamily="34" charset="-120"/>
              </a:rPr>
              <a:t>Connection reset alors que la VM est allumée</a:t>
            </a:r>
            <a:endParaRPr lang="en-US" sz="20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Du TP au cloud</a:t>
            </a:r>
            <a:endParaRPr lang="en-US" sz="3000" dirty="0"/>
          </a:p>
        </p:txBody>
      </p:sp>
      <p:sp>
        <p:nvSpPr>
          <p:cNvPr id="3" name="Shape 1"/>
          <p:cNvSpPr/>
          <p:nvPr/>
        </p:nvSpPr>
        <p:spPr>
          <a:xfrm>
            <a:off x="457200" y="1097280"/>
            <a:ext cx="8229600" cy="777240"/>
          </a:xfrm>
          <a:prstGeom prst="roundRect">
            <a:avLst>
              <a:gd name="adj" fmla="val 9412"/>
            </a:avLst>
          </a:prstGeom>
          <a:solidFill>
            <a:srgbClr val="EEF4F8"/>
          </a:solidFill>
          <a:ln w="12700">
            <a:solidFill>
              <a:srgbClr val="EEF4F8"/>
            </a:solidFill>
            <a:prstDash val="solid"/>
          </a:ln>
        </p:spPr>
      </p:sp>
      <p:sp>
        <p:nvSpPr>
          <p:cNvPr id="4" name="Text 2"/>
          <p:cNvSpPr txBox="1"/>
          <p:nvPr/>
        </p:nvSpPr>
        <p:spPr>
          <a:xfrm>
            <a:off x="685800" y="11430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Image + registre</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comme une AMI : déployée à l’identique partout</a:t>
            </a:r>
            <a:endParaRPr lang="en-US" sz="2200" dirty="0"/>
          </a:p>
        </p:txBody>
      </p:sp>
      <p:sp>
        <p:nvSpPr>
          <p:cNvPr id="5" name="Shape 3"/>
          <p:cNvSpPr/>
          <p:nvPr/>
        </p:nvSpPr>
        <p:spPr>
          <a:xfrm>
            <a:off x="457200" y="2011680"/>
            <a:ext cx="8229600" cy="777240"/>
          </a:xfrm>
          <a:prstGeom prst="roundRect">
            <a:avLst>
              <a:gd name="adj" fmla="val 9412"/>
            </a:avLst>
          </a:prstGeom>
          <a:solidFill>
            <a:srgbClr val="EEF4F8"/>
          </a:solidFill>
          <a:ln w="12700">
            <a:solidFill>
              <a:srgbClr val="EEF4F8"/>
            </a:solidFill>
            <a:prstDash val="solid"/>
          </a:ln>
        </p:spPr>
      </p:sp>
      <p:sp>
        <p:nvSpPr>
          <p:cNvPr id="6" name="Text 4"/>
          <p:cNvSpPr txBox="1"/>
          <p:nvPr/>
        </p:nvSpPr>
        <p:spPr>
          <a:xfrm>
            <a:off x="685800" y="20574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Plusieurs conteneurs</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instances à la demande : élasticité</a:t>
            </a:r>
            <a:endParaRPr lang="en-US" sz="2200" dirty="0"/>
          </a:p>
        </p:txBody>
      </p:sp>
      <p:sp>
        <p:nvSpPr>
          <p:cNvPr id="7" name="Shape 5"/>
          <p:cNvSpPr/>
          <p:nvPr/>
        </p:nvSpPr>
        <p:spPr>
          <a:xfrm>
            <a:off x="457200" y="2926080"/>
            <a:ext cx="8229600" cy="777240"/>
          </a:xfrm>
          <a:prstGeom prst="roundRect">
            <a:avLst>
              <a:gd name="adj" fmla="val 9412"/>
            </a:avLst>
          </a:prstGeom>
          <a:solidFill>
            <a:srgbClr val="EEF4F8"/>
          </a:solidFill>
          <a:ln w="12700">
            <a:solidFill>
              <a:srgbClr val="EEF4F8"/>
            </a:solidFill>
            <a:prstDash val="solid"/>
          </a:ln>
        </p:spPr>
      </p:sp>
      <p:sp>
        <p:nvSpPr>
          <p:cNvPr id="8" name="Text 6"/>
          <p:cNvSpPr txBox="1"/>
          <p:nvPr/>
        </p:nvSpPr>
        <p:spPr>
          <a:xfrm>
            <a:off x="685800" y="29718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Plus léger qu’une VM</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moins cher à héberger</a:t>
            </a:r>
            <a:endParaRPr lang="en-US" sz="2200" dirty="0"/>
          </a:p>
        </p:txBody>
      </p:sp>
      <p:sp>
        <p:nvSpPr>
          <p:cNvPr id="9" name="Shape 7"/>
          <p:cNvSpPr/>
          <p:nvPr/>
        </p:nvSpPr>
        <p:spPr>
          <a:xfrm>
            <a:off x="457200" y="3840480"/>
            <a:ext cx="8229600" cy="777240"/>
          </a:xfrm>
          <a:prstGeom prst="roundRect">
            <a:avLst>
              <a:gd name="adj" fmla="val 9412"/>
            </a:avLst>
          </a:prstGeom>
          <a:solidFill>
            <a:srgbClr val="EEF4F8"/>
          </a:solidFill>
          <a:ln w="12700">
            <a:solidFill>
              <a:srgbClr val="EEF4F8"/>
            </a:solidFill>
            <a:prstDash val="solid"/>
          </a:ln>
        </p:spPr>
      </p:sp>
      <p:sp>
        <p:nvSpPr>
          <p:cNvPr id="10" name="Text 8"/>
          <p:cNvSpPr txBox="1"/>
          <p:nvPr/>
        </p:nvSpPr>
        <p:spPr>
          <a:xfrm>
            <a:off x="685800" y="3886200"/>
            <a:ext cx="7772400" cy="685800"/>
          </a:xfrm>
          <a:prstGeom prst="rect">
            <a:avLst/>
          </a:prstGeom>
          <a:noFill/>
          <a:ln/>
        </p:spPr>
        <p:txBody>
          <a:bodyPr wrap="square" lIns="0" tIns="0" rIns="0" bIns="0" rtlCol="0" anchor="ctr"/>
          <a:lstStyle/>
          <a:p>
            <a:pPr indent="0" marL="0">
              <a:buNone/>
            </a:pPr>
            <a:r>
              <a:rPr lang="en-US" sz="2200" b="1" dirty="0">
                <a:solidFill>
                  <a:srgbClr val="00798C"/>
                </a:solidFill>
                <a:latin typeface="Calibri" pitchFamily="34" charset="0"/>
                <a:ea typeface="Calibri" pitchFamily="34" charset="-122"/>
                <a:cs typeface="Calibri" pitchFamily="34" charset="-120"/>
              </a:rPr>
              <a:t>Secrets</a:t>
            </a:r>
            <a:endParaRPr lang="en-US" sz="2200" dirty="0"/>
          </a:p>
          <a:p>
            <a:pPr indent="0" marL="0">
              <a:buNone/>
            </a:pPr>
            <a:r>
              <a:rPr lang="en-US" sz="1800" dirty="0">
                <a:solidFill>
                  <a:srgbClr val="0B1F3A"/>
                </a:solidFill>
                <a:latin typeface="Calibri" pitchFamily="34" charset="0"/>
                <a:ea typeface="Calibri" pitchFamily="34" charset="-122"/>
                <a:cs typeface="Calibri" pitchFamily="34" charset="-120"/>
              </a:rPr>
              <a:t>jamais dans le code ni dans l’image</a:t>
            </a:r>
            <a:endParaRPr lang="en-US" sz="2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C99"/>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Text 1"/>
          <p:cNvSpPr txBox="1"/>
          <p:nvPr/>
        </p:nvSpPr>
        <p:spPr>
          <a:xfrm>
            <a:off x="731520" y="1280160"/>
            <a:ext cx="7680960" cy="5486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Un conteneur n’est pas une petite VM : il partage le noyau</a:t>
            </a:r>
            <a:endParaRPr lang="en-US" sz="2200" dirty="0"/>
          </a:p>
        </p:txBody>
      </p:sp>
      <p:sp>
        <p:nvSpPr>
          <p:cNvPr id="4" name="Text 2"/>
          <p:cNvSpPr txBox="1"/>
          <p:nvPr/>
        </p:nvSpPr>
        <p:spPr>
          <a:xfrm>
            <a:off x="731520" y="2011680"/>
            <a:ext cx="7680960" cy="5486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Jusqu’à ×550 plus petit, ×140 moins de mémoire, plus rapide</a:t>
            </a:r>
            <a:endParaRPr lang="en-US" sz="2200" dirty="0"/>
          </a:p>
        </p:txBody>
      </p:sp>
      <p:sp>
        <p:nvSpPr>
          <p:cNvPr id="5" name="Text 3"/>
          <p:cNvSpPr txBox="1"/>
          <p:nvPr/>
        </p:nvSpPr>
        <p:spPr>
          <a:xfrm>
            <a:off x="731520" y="2743200"/>
            <a:ext cx="7680960" cy="5486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Cache de build : 41 s → 4,8 s</a:t>
            </a:r>
            <a:endParaRPr lang="en-US" sz="2200" dirty="0"/>
          </a:p>
        </p:txBody>
      </p:sp>
      <p:sp>
        <p:nvSpPr>
          <p:cNvPr id="6" name="Text 4"/>
          <p:cNvSpPr txBox="1"/>
          <p:nvPr/>
        </p:nvSpPr>
        <p:spPr>
          <a:xfrm>
            <a:off x="731520" y="3474720"/>
            <a:ext cx="7680960" cy="5486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Image publiée sur GHCR puis récupérée</a:t>
            </a:r>
            <a:endParaRPr lang="en-US" sz="2200" dirty="0"/>
          </a:p>
        </p:txBody>
      </p:sp>
      <p:sp>
        <p:nvSpPr>
          <p:cNvPr id="7" name="Text 5"/>
          <p:cNvSpPr txBox="1"/>
          <p:nvPr/>
        </p:nvSpPr>
        <p:spPr>
          <a:xfrm>
            <a:off x="731520" y="4297680"/>
            <a:ext cx="7315200" cy="457200"/>
          </a:xfrm>
          <a:prstGeom prst="rect">
            <a:avLst/>
          </a:prstGeom>
          <a:noFill/>
          <a:ln/>
        </p:spPr>
        <p:txBody>
          <a:bodyPr wrap="square" lIns="0" tIns="0" rIns="0" bIns="0" rtlCol="0" anchor="ctr"/>
          <a:lstStyle/>
          <a:p>
            <a:pPr indent="0" marL="0">
              <a:buNone/>
            </a:pPr>
            <a:r>
              <a:rPr lang="en-US" sz="2600" b="1" dirty="0">
                <a:solidFill>
                  <a:srgbClr val="E39A1B"/>
                </a:solidFill>
                <a:latin typeface="Cambria" pitchFamily="34" charset="0"/>
                <a:ea typeface="Cambria" pitchFamily="34" charset="-122"/>
                <a:cs typeface="Cambria" pitchFamily="34" charset="-120"/>
              </a:rPr>
              <a:t>Merci d’avoir regardé !</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 3 · Docker (version vidéo)</dc:title>
  <dc:subject>PptxGenJS Presentation</dc:subject>
  <dc:creator>PptxGenJS</dc:creator>
  <cp:lastModifiedBy>PptxGenJS</cp:lastModifiedBy>
  <cp:revision>1</cp:revision>
  <dcterms:created xsi:type="dcterms:W3CDTF">2026-10-29T01:51:52Z</dcterms:created>
  <dcterms:modified xsi:type="dcterms:W3CDTF">2026-10-29T01:51:52Z</dcterms:modified>
</cp:coreProperties>
</file>